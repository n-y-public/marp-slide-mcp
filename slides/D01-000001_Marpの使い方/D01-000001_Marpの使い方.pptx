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80" ContentType="image/80"/>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Lst>
  <p:notesMasterIdLst>
    <p:notesMasterId r:id="rId15"/>
  </p:notesMasterIdLst>
  <p:sldSz cx="9144000" cy="6858000"/>
  <p:notesSz cx="6858000" cy="9144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notesMaster" Target="notesMasters/notesMaster1.xml"/><Relationship Id="rId16" Type="http://schemas.openxmlformats.org/officeDocument/2006/relationships/presProps" Target="presProps.xml"/><Relationship Id="rId17" Type="http://schemas.openxmlformats.org/officeDocument/2006/relationships/viewProps" Target="viewProps.xml"/><Relationship Id="rId18" Type="http://schemas.openxmlformats.org/officeDocument/2006/relationships/theme" Target="theme/theme1.xml"/><Relationship Id="rId19"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MASTER_SLIDE">
    <p:bg>
      <p:bgPr>
        <a:solidFill>
          <a:srgbClr val="FFFFFF"/>
        </a:solidFill>
      </p:bgPr>
    </p:bg>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8572500" y="6583680"/>
            <a:ext cx="800000" cy="300000"/>
          </a:xfrm>
          <a:prstGeom prst="rect">
            <a:avLst/>
          </a:prstGeom>
          <a:extLst>
            <a:ext uri="{C572A759-6A51-4108-AA02-DFA0A04FC94B}">
              <ma14:wrappingTextBoxFlag xmlns:ma14="http://schemas.microsoft.com/office/mac/drawingml/2011/main" val="0"/>
            </a:ext>
          </a:extLst>
        </p:spPr>
        <p:txBody>
          <a:bodyPr/>
          <a:lstStyle>
            <a:lvl1pPr>
              <a:defRPr sz="1200">
                <a:solidFill>
                  <a:srgbClr val="FFFFFF"/>
                </a:solidFill>
              </a:defRPr>
            </a:lvl1pPr>
          </a:lstStyle>
          <a:p>
            <a:pPr algn="r"/>
            <a:fld id="{F7021451-1387-4CA6-816F-3879F97B5CBC}" type="slidenum">
              <a:rPr b="0" lang="en-US"/>
              <a:t>1002</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8572500" y="6583680"/>
            <a:ext cx="800000" cy="300000"/>
          </a:xfrm>
          <a:prstGeom prst="rect">
            <a:avLst/>
          </a:prstGeom>
          <a:extLst>
            <a:ext uri="{C572A759-6A51-4108-AA02-DFA0A04FC94B}">
              <ma14:wrappingTextBoxFlag xmlns:ma14="http://schemas.microsoft.com/office/mac/drawingml/2011/main" val="0"/>
            </a:ext>
          </a:extLst>
        </p:spPr>
        <p:txBody>
          <a:bodyPr/>
          <a:lstStyle>
            <a:lvl1pPr>
              <a:defRPr sz="1200">
                <a:solidFill>
                  <a:srgbClr val="FFFFFF"/>
                </a:solidFill>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image" Target="../media/image-1-2.svg"/><Relationship Id="rId3" Type="http://schemas.openxmlformats.org/officeDocument/2006/relationships/image" Target="../media/image-1-3.jpg"/><Relationship Id="rId4" Type="http://schemas.openxmlformats.org/officeDocument/2006/relationships/slideLayout" Target="../slideLayouts/slideLayout2.xml"/><Relationship Id="rId5"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jpg"/><Relationship Id="rId2" Type="http://schemas.openxmlformats.org/officeDocument/2006/relationships/slideLayout" Target="../slideLayouts/slideLayout2.xml"/><Relationship Id="rId3"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jpg"/><Relationship Id="rId2" Type="http://schemas.openxmlformats.org/officeDocument/2006/relationships/slideLayout" Target="../slideLayouts/slideLayout2.xml"/><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image" Target="../media/image-4-2.svg"/><Relationship Id="rId3" Type="http://schemas.openxmlformats.org/officeDocument/2006/relationships/image" Target="../media/image-4-3.png"/><Relationship Id="rId4" Type="http://schemas.openxmlformats.org/officeDocument/2006/relationships/image" Target="../media/image-4-4.svg"/><Relationship Id="rId5" Type="http://schemas.openxmlformats.org/officeDocument/2006/relationships/image" Target="../media/image-4-5.png"/><Relationship Id="rId6" Type="http://schemas.openxmlformats.org/officeDocument/2006/relationships/image" Target="../media/image-4-6.svg"/><Relationship Id="rId7" Type="http://schemas.openxmlformats.org/officeDocument/2006/relationships/image" Target="../media/image-4-7.png"/><Relationship Id="rId8" Type="http://schemas.openxmlformats.org/officeDocument/2006/relationships/image" Target="../media/image-4-8.svg"/><Relationship Id="rId9" Type="http://schemas.openxmlformats.org/officeDocument/2006/relationships/image" Target="../media/image-4-9.png"/><Relationship Id="rId10" Type="http://schemas.openxmlformats.org/officeDocument/2006/relationships/image" Target="../media/image-4-10.svg"/><Relationship Id="rId11" Type="http://schemas.openxmlformats.org/officeDocument/2006/relationships/image" Target="../media/image-4-11.80"/><Relationship Id="rId12" Type="http://schemas.openxmlformats.org/officeDocument/2006/relationships/image" Target="../media/image-4-11.80"/><Relationship Id="rId13" Type="http://schemas.openxmlformats.org/officeDocument/2006/relationships/image" Target="../media/image-4-13.jpg"/><Relationship Id="rId14" Type="http://schemas.openxmlformats.org/officeDocument/2006/relationships/slideLayout" Target="../slideLayouts/slideLayout2.xml"/><Relationship Id="rId15"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jpg"/><Relationship Id="rId2" Type="http://schemas.openxmlformats.org/officeDocument/2006/relationships/slideLayout" Target="../slideLayouts/slideLayout2.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jpg"/><Relationship Id="rId2" Type="http://schemas.openxmlformats.org/officeDocument/2006/relationships/slideLayout" Target="../slideLayouts/slideLayout2.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jpg"/><Relationship Id="rId2" Type="http://schemas.openxmlformats.org/officeDocument/2006/relationships/slideLayout" Target="../slideLayouts/slideLayout2.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jpg"/><Relationship Id="rId2" Type="http://schemas.openxmlformats.org/officeDocument/2006/relationships/slideLayout" Target="../slideLayouts/slideLayout2.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jpg"/><Relationship Id="rId2" Type="http://schemas.openxmlformats.org/officeDocument/2006/relationships/slideLayout" Target="../slideLayouts/slideLayout2.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jpg"/><Relationship Id="rId2" Type="http://schemas.openxmlformats.org/officeDocument/2006/relationships/slideLayout" Target="../slideLayouts/slideLayout2.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jpg"/><Relationship Id="rId2" Type="http://schemas.openxmlformats.org/officeDocument/2006/relationships/slideLayout" Target="../slideLayouts/slideLayout2.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jpg"/><Relationship Id="rId2" Type="http://schemas.openxmlformats.org/officeDocument/2006/relationships/slideLayout" Target="../slideLayouts/slideLayout2.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jpg"/><Relationship Id="rId2" Type="http://schemas.openxmlformats.org/officeDocument/2006/relationships/slideLayout" Target="../slideLayouts/slideLayout2.xml"/><Relationship Id="rId3" Type="http://schemas.openxmlformats.org/officeDocument/2006/relationships/notesSlide" Target="../notesSlides/notesSlide13.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pic>
        <p:nvPicPr>
          <p:cNvPr id="2" name="Image 0" descr="/tmp/sandbox/oss/main/slides/D01-000001_Marpの使い方/banner.svg">    </p:cNvPr>
          <p:cNvPicPr>
            <a:picLocks noChangeAspect="1"/>
          </p:cNvPicPr>
          <p:nvPr/>
        </p:nvPicPr>
        <p:blipFill>
          <a:blip r:embed="rId1">
            <a:extLst>
              <a:ext uri="{96DAC541-7B7A-43D3-8B79-37D633B846F1}">
                <asvg:svgBlip xmlns:asvg="http://schemas.microsoft.com/office/drawing/2016/SVG/main" r:embed="rId2"/>
              </a:ext>
            </a:extLst>
          </a:blip>
          <a:stretch>
            <a:fillRect/>
          </a:stretch>
        </p:blipFill>
        <p:spPr>
          <a:xfrm>
            <a:off x="0" y="0"/>
            <a:ext cx="9144000" cy="952500"/>
          </a:xfrm>
          <a:prstGeom prst="rect">
            <a:avLst/>
          </a:prstGeom>
        </p:spPr>
      </p:pic>
      <p:sp>
        <p:nvSpPr>
          <p:cNvPr id="3" name="Text 0"/>
          <p:cNvSpPr/>
          <p:nvPr/>
        </p:nvSpPr>
        <p:spPr>
          <a:xfrm>
            <a:off x="-2743200" y="4114800"/>
            <a:ext cx="11887200" cy="266700"/>
          </a:xfrm>
          <a:prstGeom prst="rect">
            <a:avLst/>
          </a:prstGeom>
          <a:noFill/>
          <a:ln/>
        </p:spPr>
        <p:txBody>
          <a:bodyPr wrap="square" rtlCol="0" anchor="t"/>
          <a:lstStyle/>
          <a:p>
            <a:pPr algn="r" indent="0" marL="0">
              <a:buNone/>
            </a:pPr>
            <a:r>
              <a:rPr lang="en-US" sz="1400" dirty="0">
                <a:solidFill>
                  <a:srgbClr val="000000"/>
                </a:solidFill>
                <a:latin typeface="Meiryo" pitchFamily="34" charset="0"/>
                <a:ea typeface="Meiryo" pitchFamily="34" charset="-122"/>
                <a:cs typeface="Meiryo" pitchFamily="34" charset="-120"/>
              </a:rPr>
              <a:t>図書番号：D01-000001</a:t>
            </a:r>
            <a:endParaRPr lang="en-US" sz="1400" dirty="0"/>
          </a:p>
        </p:txBody>
      </p:sp>
      <p:sp>
        <p:nvSpPr>
          <p:cNvPr id="4" name="Text 1"/>
          <p:cNvSpPr/>
          <p:nvPr/>
        </p:nvSpPr>
        <p:spPr>
          <a:xfrm>
            <a:off x="476250" y="4572000"/>
            <a:ext cx="4752380" cy="913954"/>
          </a:xfrm>
          <a:prstGeom prst="rect">
            <a:avLst/>
          </a:prstGeom>
          <a:noFill/>
          <a:ln/>
        </p:spPr>
        <p:txBody>
          <a:bodyPr wrap="square" rtlCol="0" anchor="t"/>
          <a:lstStyle/>
          <a:p>
            <a:pPr algn="l" indent="0" marL="0">
              <a:buNone/>
            </a:pPr>
            <a:r>
              <a:rPr lang="en-US" sz="1600" dirty="0">
                <a:solidFill>
                  <a:srgbClr val="000000"/>
                </a:solidFill>
                <a:latin typeface="Meiryo" pitchFamily="34" charset="0"/>
                <a:ea typeface="Meiryo" pitchFamily="34" charset="-122"/>
                <a:cs typeface="Meiryo" pitchFamily="34" charset="-120"/>
              </a:rPr>
              <a:t>オープンソース推進部</a:t>
            </a:r>
            <a:endParaRPr lang="en-US" sz="1600" dirty="0"/>
          </a:p>
          <a:p>
            <a:pPr algn="l" indent="0" marL="0">
              <a:buNone/>
            </a:pPr>
            <a:r>
              <a:rPr lang="en-US" sz="1600" dirty="0">
                <a:solidFill>
                  <a:srgbClr val="000000"/>
                </a:solidFill>
                <a:latin typeface="Meiryo" pitchFamily="34" charset="0"/>
                <a:ea typeface="Meiryo" pitchFamily="34" charset="-122"/>
                <a:cs typeface="Meiryo" pitchFamily="34" charset="-120"/>
              </a:rPr>
              <a:t>システム設計課</a:t>
            </a:r>
            <a:endParaRPr lang="en-US" sz="1600" dirty="0"/>
          </a:p>
          <a:p>
            <a:pPr algn="l" indent="0" marL="0">
              <a:buNone/>
            </a:pPr>
            <a:r>
              <a:rPr lang="en-US" sz="1600" dirty="0">
                <a:solidFill>
                  <a:srgbClr val="000000"/>
                </a:solidFill>
                <a:latin typeface="Meiryo" pitchFamily="34" charset="0"/>
                <a:ea typeface="Meiryo" pitchFamily="34" charset="-122"/>
                <a:cs typeface="Meiryo" pitchFamily="34" charset="-120"/>
              </a:rPr>
              <a:t>山田 太郎</a:t>
            </a:r>
            <a:endParaRPr lang="en-US" sz="1600" dirty="0"/>
          </a:p>
        </p:txBody>
      </p:sp>
      <p:sp>
        <p:nvSpPr>
          <p:cNvPr id="5" name="Text 2"/>
          <p:cNvSpPr/>
          <p:nvPr/>
        </p:nvSpPr>
        <p:spPr>
          <a:xfrm>
            <a:off x="476250" y="2381250"/>
            <a:ext cx="8191500" cy="685800"/>
          </a:xfrm>
          <a:prstGeom prst="rect">
            <a:avLst/>
          </a:prstGeom>
          <a:noFill/>
          <a:ln/>
        </p:spPr>
        <p:txBody>
          <a:bodyPr wrap="square" rtlCol="0" anchor="t"/>
          <a:lstStyle/>
          <a:p>
            <a:pPr algn="l" indent="0" marL="0">
              <a:buNone/>
            </a:pPr>
            <a:r>
              <a:rPr lang="en-US" sz="3600" b="1" dirty="0">
                <a:solidFill>
                  <a:srgbClr val="000000"/>
                </a:solidFill>
                <a:latin typeface="Meiryo" pitchFamily="34" charset="0"/>
                <a:ea typeface="Meiryo" pitchFamily="34" charset="-122"/>
                <a:cs typeface="Meiryo" pitchFamily="34" charset="-120"/>
              </a:rPr>
              <a:t>Marp ビジネススライドの使い方</a:t>
            </a:r>
            <a:endParaRPr lang="en-US" sz="3600" dirty="0"/>
          </a:p>
        </p:txBody>
      </p:sp>
      <p:sp>
        <p:nvSpPr>
          <p:cNvPr id="6" name="Text 3"/>
          <p:cNvSpPr/>
          <p:nvPr/>
        </p:nvSpPr>
        <p:spPr>
          <a:xfrm>
            <a:off x="476250" y="3257550"/>
            <a:ext cx="8191500" cy="381000"/>
          </a:xfrm>
          <a:prstGeom prst="rect">
            <a:avLst/>
          </a:prstGeom>
          <a:noFill/>
          <a:ln/>
        </p:spPr>
        <p:txBody>
          <a:bodyPr wrap="square" rtlCol="0" anchor="ctr"/>
          <a:lstStyle/>
          <a:p>
            <a:pPr algn="l" indent="0" marL="0">
              <a:lnSpc>
                <a:spcPts val="1800"/>
              </a:lnSpc>
              <a:buNone/>
            </a:pPr>
            <a:r>
              <a:rPr lang="en-US" sz="2000" dirty="0">
                <a:solidFill>
                  <a:srgbClr val="555555"/>
                </a:solidFill>
                <a:latin typeface="Meiryo" pitchFamily="34" charset="0"/>
                <a:ea typeface="Meiryo" pitchFamily="34" charset="-122"/>
                <a:cs typeface="Meiryo" pitchFamily="34" charset="-120"/>
              </a:rPr>
              <a:t>～標準デザインテンプレートと機能の活用ガイド～</a:t>
            </a:r>
            <a:endParaRPr lang="en-US" sz="2000" dirty="0"/>
          </a:p>
        </p:txBody>
      </p:sp>
      <p:pic>
        <p:nvPicPr>
          <p:cNvPr id="7" name="Image 1" descr="/tmp/sandbox/oss/main/slides/D01-000001_Marpの使い方/N-Y-Public_Logo.jpg">    </p:cNvPr>
          <p:cNvPicPr>
            <a:picLocks noChangeAspect="1"/>
          </p:cNvPicPr>
          <p:nvPr/>
        </p:nvPicPr>
        <p:blipFill>
          <a:blip r:embed="rId3"/>
          <a:stretch>
            <a:fillRect/>
          </a:stretch>
        </p:blipFill>
        <p:spPr>
          <a:xfrm>
            <a:off x="7048500" y="5905500"/>
            <a:ext cx="1905000" cy="476250"/>
          </a:xfrm>
          <a:prstGeom prst="rect">
            <a:avLst/>
          </a:prstGeom>
        </p:spPr>
      </p:pic>
      <p:sp>
        <p:nvSpPr>
          <p:cNvPr id="25" name="Slide Number Placeholder 0"/>
          <p:cNvSpPr>
            <a:spLocks noGrp="1"/>
          </p:cNvSpPr>
          <p:nvPr>
            <p:ph type="sldNum" sz="quarter" idx="4294967295"/>
          </p:nvPr>
        </p:nvSpPr>
        <p:spPr>
          <a:xfrm>
            <a:off x="8572500" y="6583680"/>
            <a:ext cx="800000" cy="300000"/>
          </a:xfrm>
          <a:prstGeom prst="rect">
            <a:avLst/>
          </a:prstGeom>
          <a:extLst>
            <a:ext uri="{C572A759-6A51-4108-AA02-DFA0A04FC94B}">
              <ma14:wrappingTextBoxFlag xmlns:ma14="http://schemas.microsoft.com/office/mac/drawingml/2011/main" val="0"/>
            </a:ext>
          </a:extLst>
        </p:spPr>
        <p:txBody>
          <a:bodyPr/>
          <a:lstStyle>
            <a:lvl1pPr>
              <a:defRPr sz="1200">
                <a:solidFill>
                  <a:srgbClr val="FFFFFF"/>
                </a:solidFill>
              </a:defRPr>
            </a:lvl1pPr>
          </a:lstStyle>
          <a:p>
            <a:pPr algn="r"/>
            <a:fld id="{F7021451-1387-4CA6-816F-3879F97B5CBC}" type="slidenum">
              <a:rPr b="0" lang="en-US"/>
              <a:t>1</a:t>
            </a:fld>
            <a:endParaRPr lang="en-US"/>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nvSpPr>
        <p:spPr>
          <a:xfrm>
            <a:off x="190500" y="150837"/>
            <a:ext cx="8763000" cy="317450"/>
          </a:xfrm>
          <a:prstGeom prst="rect">
            <a:avLst/>
          </a:prstGeom>
          <a:noFill/>
          <a:ln/>
        </p:spPr>
        <p:txBody>
          <a:bodyPr wrap="square" rtlCol="0" anchor="t"/>
          <a:lstStyle/>
          <a:p>
            <a:pPr indent="0" marL="0">
              <a:buNone/>
            </a:pPr>
            <a:r>
              <a:rPr lang="en-US" sz="2000" b="1" dirty="0">
                <a:solidFill>
                  <a:srgbClr val="000000"/>
                </a:solidFill>
                <a:latin typeface="Meiryo" pitchFamily="34" charset="0"/>
                <a:ea typeface="Meiryo" pitchFamily="34" charset="-122"/>
                <a:cs typeface="Meiryo" pitchFamily="34" charset="-120"/>
              </a:rPr>
              <a:t>目次</a:t>
            </a:r>
            <a:endParaRPr lang="en-US" sz="2000" dirty="0"/>
          </a:p>
        </p:txBody>
      </p:sp>
      <p:sp>
        <p:nvSpPr>
          <p:cNvPr id="3" name="Text 1"/>
          <p:cNvSpPr/>
          <p:nvPr/>
        </p:nvSpPr>
        <p:spPr>
          <a:xfrm>
            <a:off x="479108" y="904875"/>
            <a:ext cx="8188642" cy="4341168"/>
          </a:xfrm>
          <a:prstGeom prst="rect">
            <a:avLst/>
          </a:prstGeom>
          <a:noFill/>
          <a:ln/>
        </p:spPr>
        <p:txBody>
          <a:bodyPr wrap="square" rtlCol="0" anchor="t"/>
          <a:lstStyle/>
          <a:p>
            <a:pPr marL="342900" indent="-342900">
              <a:lnSpc>
                <a:spcPct val="100000"/>
              </a:lnSpc>
              <a:buSzPct val="100000"/>
              <a:buChar char="•"/>
            </a:pPr>
            <a:r>
              <a:rPr lang="en-US" sz="1800" dirty="0">
                <a:solidFill>
                  <a:srgbClr val="000000"/>
                </a:solidFill>
                <a:latin typeface="Meiryo" pitchFamily="34" charset="0"/>
                <a:ea typeface="Meiryo" pitchFamily="34" charset="-122"/>
                <a:cs typeface="Meiryo" pitchFamily="34" charset="-120"/>
              </a:rPr>
              <a:t>通常ページテンプレ ・・・・・・・・・・・・・・・・・・・・・・・・・・・ 3</a:t>
            </a:r>
            <a:endParaRPr lang="en-US" sz="1800" dirty="0"/>
          </a:p>
          <a:p>
            <a:pPr marL="342900" indent="-342900">
              <a:lnSpc>
                <a:spcPct val="100000"/>
              </a:lnSpc>
              <a:buSzPct val="100000"/>
              <a:buChar char="•"/>
            </a:pPr>
            <a:r>
              <a:rPr lang="en-US" sz="1800" dirty="0">
                <a:solidFill>
                  <a:srgbClr val="000000"/>
                </a:solidFill>
                <a:latin typeface="Meiryo" pitchFamily="34" charset="0"/>
                <a:ea typeface="Meiryo" pitchFamily="34" charset="-122"/>
                <a:cs typeface="Meiryo" pitchFamily="34" charset="-120"/>
              </a:rPr>
              <a:t>会話レイアウト（conversation-content）の使用例 ・・・ 4</a:t>
            </a:r>
            <a:endParaRPr lang="en-US" sz="1800" dirty="0"/>
          </a:p>
          <a:p>
            <a:pPr marL="342900" indent="-342900">
              <a:lnSpc>
                <a:spcPct val="100000"/>
              </a:lnSpc>
              <a:buSzPct val="100000"/>
              <a:buChar char="•"/>
            </a:pPr>
            <a:r>
              <a:rPr lang="en-US" sz="1800" dirty="0">
                <a:solidFill>
                  <a:srgbClr val="000000"/>
                </a:solidFill>
                <a:latin typeface="Meiryo" pitchFamily="34" charset="0"/>
                <a:ea typeface="Meiryo" pitchFamily="34" charset="-122"/>
                <a:cs typeface="Meiryo" pitchFamily="34" charset="-120"/>
              </a:rPr>
              <a:t>ワイドレイアウト（wide-content）の使用例 ・・・ 5</a:t>
            </a:r>
            <a:endParaRPr lang="en-US" sz="1800" dirty="0"/>
          </a:p>
          <a:p>
            <a:pPr marL="342900" indent="-342900">
              <a:lnSpc>
                <a:spcPct val="100000"/>
              </a:lnSpc>
              <a:buSzPct val="100000"/>
              <a:buChar char="•"/>
            </a:pPr>
            <a:r>
              <a:rPr lang="en-US" sz="1800" dirty="0">
                <a:solidFill>
                  <a:srgbClr val="000000"/>
                </a:solidFill>
                <a:latin typeface="Meiryo" pitchFamily="34" charset="0"/>
                <a:ea typeface="Meiryo" pitchFamily="34" charset="-122"/>
                <a:cs typeface="Meiryo" pitchFamily="34" charset="-120"/>
              </a:rPr>
              <a:t>はみ出し防止とサイズ調整クラス ・・・・・・・・・・・・・・・ 6</a:t>
            </a:r>
            <a:endParaRPr lang="en-US" sz="1800" dirty="0"/>
          </a:p>
          <a:p>
            <a:pPr marL="342900" indent="-342900">
              <a:lnSpc>
                <a:spcPct val="100000"/>
              </a:lnSpc>
              <a:buSzPct val="100000"/>
              <a:buChar char="•"/>
            </a:pPr>
            <a:r>
              <a:rPr lang="en-US" sz="1800" dirty="0">
                <a:solidFill>
                  <a:srgbClr val="000000"/>
                </a:solidFill>
                <a:latin typeface="Meiryo" pitchFamily="34" charset="0"/>
                <a:ea typeface="Meiryo" pitchFamily="34" charset="-122"/>
                <a:cs typeface="Meiryo" pitchFamily="34" charset="-120"/>
              </a:rPr>
              <a:t>環境構築：GitHubクローン後のセットアップ ・・・ 7</a:t>
            </a:r>
            <a:endParaRPr lang="en-US" sz="1800" dirty="0"/>
          </a:p>
          <a:p>
            <a:pPr marL="342900" indent="-342900">
              <a:lnSpc>
                <a:spcPct val="100000"/>
              </a:lnSpc>
              <a:buSzPct val="100000"/>
              <a:buChar char="•"/>
            </a:pPr>
            <a:r>
              <a:rPr lang="en-US" sz="1800" dirty="0">
                <a:solidFill>
                  <a:srgbClr val="000000"/>
                </a:solidFill>
                <a:latin typeface="Meiryo" pitchFamily="34" charset="0"/>
                <a:ea typeface="Meiryo" pitchFamily="34" charset="-122"/>
                <a:cs typeface="Meiryo" pitchFamily="34" charset="-120"/>
              </a:rPr>
              <a:t>提供されるMCPツール一覧と機能 ・・・・・・・・・・・・・ 8</a:t>
            </a:r>
            <a:endParaRPr lang="en-US" sz="1800" dirty="0"/>
          </a:p>
          <a:p>
            <a:pPr marL="342900" indent="-342900">
              <a:lnSpc>
                <a:spcPct val="100000"/>
              </a:lnSpc>
              <a:buSzPct val="100000"/>
              <a:buChar char="•"/>
            </a:pPr>
            <a:r>
              <a:rPr lang="en-US" sz="1800" dirty="0">
                <a:solidFill>
                  <a:srgbClr val="000000"/>
                </a:solidFill>
                <a:latin typeface="Meiryo" pitchFamily="34" charset="0"/>
                <a:ea typeface="Meiryo" pitchFamily="34" charset="-122"/>
                <a:cs typeface="Meiryo" pitchFamily="34" charset="-120"/>
              </a:rPr>
              <a:t>MCPサーバーの利用フローとAI連携 ・・・・・・・・・ 9</a:t>
            </a:r>
            <a:endParaRPr lang="en-US" sz="1800" dirty="0"/>
          </a:p>
          <a:p>
            <a:pPr marL="342900" indent="-342900">
              <a:lnSpc>
                <a:spcPct val="100000"/>
              </a:lnSpc>
              <a:buSzPct val="100000"/>
              <a:buChar char="•"/>
            </a:pPr>
            <a:r>
              <a:rPr lang="en-US" sz="1800" dirty="0">
                <a:solidFill>
                  <a:srgbClr val="000000"/>
                </a:solidFill>
                <a:latin typeface="Meiryo" pitchFamily="34" charset="0"/>
                <a:ea typeface="Meiryo" pitchFamily="34" charset="-122"/>
                <a:cs typeface="Meiryo" pitchFamily="34" charset="-120"/>
              </a:rPr>
              <a:t>成果物の出力先と資料別ディレクトリ構造 ・・・・・・・ 10</a:t>
            </a:r>
            <a:endParaRPr lang="en-US" sz="1800" dirty="0"/>
          </a:p>
          <a:p>
            <a:pPr marL="342900" indent="-342900">
              <a:lnSpc>
                <a:spcPct val="100000"/>
              </a:lnSpc>
              <a:buSzPct val="100000"/>
              <a:buChar char="•"/>
            </a:pPr>
            <a:r>
              <a:rPr lang="en-US" sz="1800" dirty="0">
                <a:solidFill>
                  <a:srgbClr val="000000"/>
                </a:solidFill>
                <a:latin typeface="Meiryo" pitchFamily="34" charset="0"/>
                <a:ea typeface="Meiryo" pitchFamily="34" charset="-122"/>
                <a:cs typeface="Meiryo" pitchFamily="34" charset="-120"/>
              </a:rPr>
              <a:t>MCP各要素の受付文字数・上限規約 ・・・・・・・・・・・ 11</a:t>
            </a:r>
            <a:endParaRPr lang="en-US" sz="1800" dirty="0"/>
          </a:p>
          <a:p>
            <a:pPr marL="342900" indent="-342900">
              <a:lnSpc>
                <a:spcPct val="100000"/>
              </a:lnSpc>
              <a:buSzPct val="100000"/>
              <a:buChar char="•"/>
            </a:pPr>
            <a:r>
              <a:rPr lang="en-US" sz="1800" dirty="0">
                <a:solidFill>
                  <a:srgbClr val="000000"/>
                </a:solidFill>
                <a:latin typeface="Meiryo" pitchFamily="34" charset="0"/>
                <a:ea typeface="Meiryo" pitchFamily="34" charset="-122"/>
                <a:cs typeface="Meiryo" pitchFamily="34" charset="-120"/>
              </a:rPr>
              <a:t>自律開発用 Marp スキル（.agents/skills）の活用 ・・・ 12</a:t>
            </a:r>
            <a:endParaRPr lang="en-US" sz="1800" dirty="0"/>
          </a:p>
          <a:p>
            <a:pPr marL="342900" indent="-342900">
              <a:lnSpc>
                <a:spcPct val="100000"/>
              </a:lnSpc>
              <a:buSzPct val="100000"/>
              <a:buChar char="•"/>
            </a:pPr>
            <a:r>
              <a:rPr lang="en-US" sz="1800" dirty="0">
                <a:solidFill>
                  <a:srgbClr val="000000"/>
                </a:solidFill>
                <a:latin typeface="Meiryo" pitchFamily="34" charset="0"/>
                <a:ea typeface="Meiryo" pitchFamily="34" charset="-122"/>
                <a:cs typeface="Meiryo" pitchFamily="34" charset="-120"/>
              </a:rPr>
              <a:t>ライセンス条項（SaaS制限付きソースアベイラブル） ・・・ 13</a:t>
            </a:r>
            <a:endParaRPr lang="en-US" sz="1800" dirty="0"/>
          </a:p>
          <a:p>
            <a:pPr marL="342900" indent="-342900">
              <a:lnSpc>
                <a:spcPct val="100000"/>
              </a:lnSpc>
              <a:buSzPct val="100000"/>
              <a:buChar char="•"/>
            </a:pPr>
            <a:endParaRPr lang="en-US" sz="1800" dirty="0"/>
          </a:p>
        </p:txBody>
      </p:sp>
      <p:pic>
        <p:nvPicPr>
          <p:cNvPr id="4" name="Image 0" descr="/tmp/sandbox/oss/main/slides/D01-000001_Marpの使い方/N-Y-Public_Logo.jpg">    </p:cNvPr>
          <p:cNvPicPr>
            <a:picLocks noChangeAspect="1"/>
          </p:cNvPicPr>
          <p:nvPr/>
        </p:nvPicPr>
        <p:blipFill>
          <a:blip r:embed="rId1"/>
          <a:stretch>
            <a:fillRect/>
          </a:stretch>
        </p:blipFill>
        <p:spPr>
          <a:xfrm>
            <a:off x="7048500" y="47625"/>
            <a:ext cx="1905000" cy="476250"/>
          </a:xfrm>
          <a:prstGeom prst="rect">
            <a:avLst/>
          </a:prstGeom>
        </p:spPr>
      </p:pic>
      <p:sp>
        <p:nvSpPr>
          <p:cNvPr id="25" name="Slide Number Placeholder 0"/>
          <p:cNvSpPr>
            <a:spLocks noGrp="1"/>
          </p:cNvSpPr>
          <p:nvPr>
            <p:ph type="sldNum" sz="quarter" idx="4294967295"/>
          </p:nvPr>
        </p:nvSpPr>
        <p:spPr>
          <a:xfrm>
            <a:off x="8572500" y="6583680"/>
            <a:ext cx="800000" cy="300000"/>
          </a:xfrm>
          <a:prstGeom prst="rect">
            <a:avLst/>
          </a:prstGeom>
          <a:extLst>
            <a:ext uri="{C572A759-6A51-4108-AA02-DFA0A04FC94B}">
              <ma14:wrappingTextBoxFlag xmlns:ma14="http://schemas.microsoft.com/office/mac/drawingml/2011/main" val="0"/>
            </a:ext>
          </a:extLst>
        </p:spPr>
        <p:txBody>
          <a:bodyPr/>
          <a:lstStyle>
            <a:lvl1pPr>
              <a:defRPr sz="1200">
                <a:solidFill>
                  <a:srgbClr val="FFFFFF"/>
                </a:solidFill>
              </a:defRPr>
            </a:lvl1pPr>
          </a:lstStyle>
          <a:p>
            <a:pPr algn="r"/>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nvSpPr>
        <p:spPr>
          <a:xfrm>
            <a:off x="383857" y="2293144"/>
            <a:ext cx="8379142" cy="274290"/>
          </a:xfrm>
          <a:prstGeom prst="rect">
            <a:avLst/>
          </a:prstGeom>
          <a:noFill/>
          <a:ln/>
        </p:spPr>
        <p:txBody>
          <a:bodyPr wrap="square" rtlCol="0" anchor="t"/>
          <a:lstStyle/>
          <a:p>
            <a:pPr marL="342900" indent="-342900">
              <a:lnSpc>
                <a:spcPct val="100000"/>
              </a:lnSpc>
              <a:buSzPct val="100000"/>
              <a:buChar char="•"/>
            </a:pPr>
            <a:r>
              <a:rPr lang="en-US" sz="1440" dirty="0">
                <a:solidFill>
                  <a:srgbClr val="000000"/>
                </a:solidFill>
                <a:latin typeface="Meiryo" pitchFamily="34" charset="0"/>
                <a:ea typeface="Meiryo" pitchFamily="34" charset="-122"/>
                <a:cs typeface="Meiryo" pitchFamily="34" charset="-120"/>
              </a:rPr>
              <a:t>本文は箇条書きが基本だが、平文形式、Mermaid図、コードブロック等も記入可能</a:t>
            </a:r>
            <a:endParaRPr lang="en-US" sz="1440" dirty="0"/>
          </a:p>
          <a:p>
            <a:pPr marL="342900" indent="-342900">
              <a:lnSpc>
                <a:spcPct val="100000"/>
              </a:lnSpc>
              <a:buSzPct val="100000"/>
              <a:buChar char="•"/>
            </a:pPr>
            <a:endParaRPr lang="en-US" sz="1440" dirty="0"/>
          </a:p>
        </p:txBody>
      </p:sp>
      <p:sp>
        <p:nvSpPr>
          <p:cNvPr id="3" name="Text 1"/>
          <p:cNvSpPr/>
          <p:nvPr/>
        </p:nvSpPr>
        <p:spPr>
          <a:xfrm>
            <a:off x="381000" y="2669828"/>
            <a:ext cx="8382000" cy="274290"/>
          </a:xfrm>
          <a:prstGeom prst="rect">
            <a:avLst/>
          </a:prstGeom>
          <a:noFill/>
          <a:ln/>
        </p:spPr>
        <p:txBody>
          <a:bodyPr wrap="square" rtlCol="0" anchor="t"/>
          <a:lstStyle/>
          <a:p>
            <a:pPr indent="0" marL="0">
              <a:buNone/>
            </a:pPr>
            <a:r>
              <a:rPr lang="en-US" sz="1440" dirty="0">
                <a:solidFill>
                  <a:srgbClr val="000000"/>
                </a:solidFill>
                <a:latin typeface="Meiryo" pitchFamily="34" charset="0"/>
                <a:ea typeface="Meiryo" pitchFamily="34" charset="-122"/>
                <a:cs typeface="Meiryo" pitchFamily="34" charset="-120"/>
              </a:rPr>
              <a:t>例えばこんな感じの文章や、コードブロックなど。</a:t>
            </a:r>
            <a:endParaRPr lang="en-US" sz="1440" dirty="0"/>
          </a:p>
        </p:txBody>
      </p:sp>
      <p:sp>
        <p:nvSpPr>
          <p:cNvPr id="4" name="Text 2"/>
          <p:cNvSpPr/>
          <p:nvPr/>
        </p:nvSpPr>
        <p:spPr>
          <a:xfrm>
            <a:off x="381000" y="3046512"/>
            <a:ext cx="8382000" cy="785515"/>
          </a:xfrm>
          <a:prstGeom prst="rect">
            <a:avLst/>
          </a:prstGeom>
          <a:solidFill>
            <a:srgbClr val="F5F5F5"/>
          </a:solidFill>
          <a:ln/>
        </p:spPr>
        <p:txBody>
          <a:bodyPr wrap="square" rtlCol="0" anchor="t"/>
          <a:lstStyle/>
          <a:p>
            <a:pPr indent="0" marL="0">
              <a:buNone/>
            </a:pPr>
            <a:r>
              <a:rPr lang="en-US" sz="1000" dirty="0">
                <a:solidFill>
                  <a:srgbClr val="000000"/>
                </a:solidFill>
                <a:latin typeface="Consolas" pitchFamily="34" charset="0"/>
                <a:ea typeface="Consolas" pitchFamily="34" charset="-122"/>
                <a:cs typeface="Consolas" pitchFamily="34" charset="-120"/>
              </a:rPr>
              <a:t># コードブロック
hoge = a + b
print(hoge)
</a:t>
            </a:r>
            <a:endParaRPr lang="en-US" sz="1000" dirty="0"/>
          </a:p>
        </p:txBody>
      </p:sp>
      <p:sp>
        <p:nvSpPr>
          <p:cNvPr id="5" name="Text 3"/>
          <p:cNvSpPr/>
          <p:nvPr/>
        </p:nvSpPr>
        <p:spPr>
          <a:xfrm>
            <a:off x="190500" y="150837"/>
            <a:ext cx="8763000" cy="317450"/>
          </a:xfrm>
          <a:prstGeom prst="rect">
            <a:avLst/>
          </a:prstGeom>
          <a:noFill/>
          <a:ln/>
        </p:spPr>
        <p:txBody>
          <a:bodyPr wrap="square" rtlCol="0" anchor="t"/>
          <a:lstStyle/>
          <a:p>
            <a:pPr indent="0" marL="0">
              <a:buNone/>
            </a:pPr>
            <a:r>
              <a:rPr lang="en-US" sz="2000" b="1" dirty="0">
                <a:solidFill>
                  <a:srgbClr val="000000"/>
                </a:solidFill>
                <a:latin typeface="Meiryo" pitchFamily="34" charset="0"/>
                <a:ea typeface="Meiryo" pitchFamily="34" charset="-122"/>
                <a:cs typeface="Meiryo" pitchFamily="34" charset="-120"/>
              </a:rPr>
              <a:t>通常ページテンプレ</a:t>
            </a:r>
            <a:endParaRPr lang="en-US" sz="2000" dirty="0"/>
          </a:p>
        </p:txBody>
      </p:sp>
      <p:sp>
        <p:nvSpPr>
          <p:cNvPr id="6" name="Text 4"/>
          <p:cNvSpPr/>
          <p:nvPr/>
        </p:nvSpPr>
        <p:spPr>
          <a:xfrm>
            <a:off x="0" y="1714500"/>
            <a:ext cx="9144000" cy="297061"/>
          </a:xfrm>
          <a:prstGeom prst="rect">
            <a:avLst/>
          </a:prstGeom>
          <a:noFill/>
          <a:ln/>
        </p:spPr>
        <p:txBody>
          <a:bodyPr wrap="square" rtlCol="0" anchor="t"/>
          <a:lstStyle/>
          <a:p>
            <a:pPr algn="ctr" indent="0" marL="0">
              <a:buNone/>
            </a:pPr>
            <a:r>
              <a:rPr lang="en-US" sz="1800" b="1" dirty="0">
                <a:solidFill>
                  <a:srgbClr val="000000"/>
                </a:solidFill>
                <a:latin typeface="Meiryo" pitchFamily="34" charset="0"/>
                <a:ea typeface="Meiryo" pitchFamily="34" charset="-122"/>
                <a:cs typeface="Meiryo" pitchFamily="34" charset="-120"/>
              </a:rPr>
              <a:t>本文タイトル</a:t>
            </a:r>
            <a:endParaRPr lang="en-US" sz="1800" dirty="0"/>
          </a:p>
        </p:txBody>
      </p:sp>
      <p:sp>
        <p:nvSpPr>
          <p:cNvPr id="7" name="Text 5"/>
          <p:cNvSpPr/>
          <p:nvPr/>
        </p:nvSpPr>
        <p:spPr>
          <a:xfrm>
            <a:off x="4678859" y="6172200"/>
            <a:ext cx="4274641" cy="209550"/>
          </a:xfrm>
          <a:prstGeom prst="rect">
            <a:avLst/>
          </a:prstGeom>
          <a:noFill/>
          <a:ln/>
        </p:spPr>
        <p:txBody>
          <a:bodyPr wrap="square" rtlCol="0" anchor="t"/>
          <a:lstStyle/>
          <a:p>
            <a:pPr algn="r" indent="0" marL="0">
              <a:buNone/>
            </a:pPr>
            <a:r>
              <a:rPr lang="en-US" sz="1100" dirty="0">
                <a:solidFill>
                  <a:srgbClr val="000000"/>
                </a:solidFill>
                <a:latin typeface="Meiryo" pitchFamily="34" charset="0"/>
                <a:ea typeface="Meiryo" pitchFamily="34" charset="-122"/>
                <a:cs typeface="Meiryo" pitchFamily="34" charset="-120"/>
              </a:rPr>
              <a:t>図表出典：サンプル記述</a:t>
            </a:r>
            <a:endParaRPr lang="en-US" sz="1100" dirty="0"/>
          </a:p>
        </p:txBody>
      </p:sp>
      <p:sp>
        <p:nvSpPr>
          <p:cNvPr id="8" name="Text 6"/>
          <p:cNvSpPr/>
          <p:nvPr/>
        </p:nvSpPr>
        <p:spPr>
          <a:xfrm>
            <a:off x="190500" y="6572250"/>
            <a:ext cx="3680966" cy="171450"/>
          </a:xfrm>
          <a:prstGeom prst="rect">
            <a:avLst/>
          </a:prstGeom>
          <a:noFill/>
          <a:ln/>
        </p:spPr>
        <p:txBody>
          <a:bodyPr wrap="square" rtlCol="0" anchor="t"/>
          <a:lstStyle/>
          <a:p>
            <a:pPr algn="l" indent="0" marL="0">
              <a:buNone/>
            </a:pPr>
            <a:r>
              <a:rPr lang="en-US" sz="1100" dirty="0">
                <a:solidFill>
                  <a:srgbClr val="FFFFFF"/>
                </a:solidFill>
                <a:latin typeface="Meiryo" pitchFamily="34" charset="0"/>
                <a:ea typeface="Meiryo" pitchFamily="34" charset="-122"/>
                <a:cs typeface="Meiryo" pitchFamily="34" charset="-120"/>
              </a:rPr>
              <a:t>© 2026 N-Y-Public</a:t>
            </a:r>
            <a:endParaRPr lang="en-US" sz="1100" dirty="0"/>
          </a:p>
        </p:txBody>
      </p:sp>
      <p:sp>
        <p:nvSpPr>
          <p:cNvPr id="9" name="Text 7"/>
          <p:cNvSpPr/>
          <p:nvPr/>
        </p:nvSpPr>
        <p:spPr>
          <a:xfrm>
            <a:off x="4386858" y="6510337"/>
            <a:ext cx="4090392" cy="271463"/>
          </a:xfrm>
          <a:prstGeom prst="rect">
            <a:avLst/>
          </a:prstGeom>
          <a:noFill/>
          <a:ln/>
        </p:spPr>
        <p:txBody>
          <a:bodyPr wrap="square" rtlCol="0" anchor="t"/>
          <a:lstStyle/>
          <a:p>
            <a:pPr algn="r" indent="0" marL="0">
              <a:buNone/>
            </a:pPr>
            <a:r>
              <a:rPr lang="en-US" sz="1100" b="1" dirty="0">
                <a:solidFill>
                  <a:srgbClr val="FF0000"/>
                </a:solidFill>
                <a:latin typeface="Meiryo" pitchFamily="34" charset="0"/>
                <a:ea typeface="Meiryo" pitchFamily="34" charset="-122"/>
                <a:cs typeface="Meiryo" pitchFamily="34" charset="-120"/>
              </a:rPr>
              <a:t>CONFIDENTIAL</a:t>
            </a:r>
            <a:endParaRPr lang="en-US" sz="1100" dirty="0"/>
          </a:p>
        </p:txBody>
      </p:sp>
      <p:sp>
        <p:nvSpPr>
          <p:cNvPr id="10" name="Text 8"/>
          <p:cNvSpPr/>
          <p:nvPr/>
        </p:nvSpPr>
        <p:spPr>
          <a:xfrm>
            <a:off x="0" y="823020"/>
            <a:ext cx="9144000" cy="639961"/>
          </a:xfrm>
          <a:prstGeom prst="rect">
            <a:avLst/>
          </a:prstGeom>
          <a:noFill/>
          <a:ln/>
        </p:spPr>
        <p:txBody>
          <a:bodyPr wrap="square" rtlCol="0" anchor="ctr"/>
          <a:lstStyle/>
          <a:p>
            <a:pPr marL="342900" indent="-342900">
              <a:lnSpc>
                <a:spcPct val="100000"/>
              </a:lnSpc>
              <a:buSzPct val="100000"/>
              <a:buChar char="•"/>
            </a:pPr>
            <a:r>
              <a:rPr lang="en-US" sz="1800" dirty="0">
                <a:solidFill>
                  <a:srgbClr val="FFFFFF"/>
                </a:solidFill>
                <a:latin typeface="Meiryo" pitchFamily="34" charset="0"/>
                <a:ea typeface="Meiryo" pitchFamily="34" charset="-122"/>
                <a:cs typeface="Meiryo" pitchFamily="34" charset="-120"/>
              </a:rPr>
              <a:t>ここはページの主な主張</a:t>
            </a:r>
            <a:endParaRPr lang="en-US" sz="1800" dirty="0"/>
          </a:p>
          <a:p>
            <a:pPr lvl="1" marL="685800" indent="-342900">
              <a:lnSpc>
                <a:spcPct val="100000"/>
              </a:lnSpc>
              <a:buSzPct val="100000"/>
              <a:buChar char="•"/>
            </a:pPr>
            <a:r>
              <a:rPr lang="en-US" sz="1800" dirty="0">
                <a:solidFill>
                  <a:srgbClr val="FFFFFF"/>
                </a:solidFill>
                <a:latin typeface="Meiryo" pitchFamily="34" charset="0"/>
                <a:ea typeface="Meiryo" pitchFamily="34" charset="-122"/>
                <a:cs typeface="Meiryo" pitchFamily="34" charset="-120"/>
              </a:rPr>
              <a:t>箇条書きも対応</a:t>
            </a:r>
            <a:endParaRPr lang="en-US" sz="1800" dirty="0"/>
          </a:p>
        </p:txBody>
      </p:sp>
      <p:pic>
        <p:nvPicPr>
          <p:cNvPr id="11" name="Image 0" descr="/tmp/sandbox/oss/main/slides/D01-000001_Marpの使い方/N-Y-Public_Logo.jpg">    </p:cNvPr>
          <p:cNvPicPr>
            <a:picLocks noChangeAspect="1"/>
          </p:cNvPicPr>
          <p:nvPr/>
        </p:nvPicPr>
        <p:blipFill>
          <a:blip r:embed="rId1"/>
          <a:stretch>
            <a:fillRect/>
          </a:stretch>
        </p:blipFill>
        <p:spPr>
          <a:xfrm>
            <a:off x="7048500" y="47625"/>
            <a:ext cx="1905000" cy="476250"/>
          </a:xfrm>
          <a:prstGeom prst="rect">
            <a:avLst/>
          </a:prstGeom>
        </p:spPr>
      </p:pic>
      <p:sp>
        <p:nvSpPr>
          <p:cNvPr id="25" name="Slide Number Placeholder 0"/>
          <p:cNvSpPr>
            <a:spLocks noGrp="1"/>
          </p:cNvSpPr>
          <p:nvPr>
            <p:ph type="sldNum" sz="quarter" idx="4294967295"/>
          </p:nvPr>
        </p:nvSpPr>
        <p:spPr>
          <a:xfrm>
            <a:off x="8572500" y="6583680"/>
            <a:ext cx="800000" cy="300000"/>
          </a:xfrm>
          <a:prstGeom prst="rect">
            <a:avLst/>
          </a:prstGeom>
          <a:extLst>
            <a:ext uri="{C572A759-6A51-4108-AA02-DFA0A04FC94B}">
              <ma14:wrappingTextBoxFlag xmlns:ma14="http://schemas.microsoft.com/office/mac/drawingml/2011/main" val="0"/>
            </a:ext>
          </a:extLst>
        </p:spPr>
        <p:txBody>
          <a:bodyPr/>
          <a:lstStyle>
            <a:lvl1pPr>
              <a:defRPr sz="1200">
                <a:solidFill>
                  <a:srgbClr val="FFFFFF"/>
                </a:solidFill>
              </a:defRPr>
            </a:lvl1pPr>
          </a:lstStyle>
          <a:p>
            <a:pPr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extLst>
              <a:ext uri="{96DAC541-7B7A-43D3-8B79-37D633B846F1}">
                <asvg:svgBlip xmlns:asvg="http://schemas.microsoft.com/office/drawing/2016/SVG/main" r:embed="rId2"/>
              </a:ext>
            </a:extLst>
          </a:blip>
          <a:stretch>
            <a:fillRect/>
          </a:stretch>
        </p:blipFill>
        <p:spPr>
          <a:xfrm>
            <a:off x="685800" y="823020"/>
            <a:ext cx="8267700" cy="639961"/>
          </a:xfrm>
          <a:prstGeom prst="rect">
            <a:avLst/>
          </a:prstGeom>
        </p:spPr>
      </p:pic>
      <p:sp>
        <p:nvSpPr>
          <p:cNvPr id="3" name="Text 0"/>
          <p:cNvSpPr txBox="1"/>
          <p:nvPr/>
        </p:nvSpPr>
        <p:spPr>
          <a:xfrm>
            <a:off x="828675" y="823020"/>
            <a:ext cx="8124825" cy="639961"/>
          </a:xfrm>
          <a:prstGeom prst="rect">
            <a:avLst/>
          </a:prstGeom>
          <a:noFill/>
          <a:ln/>
        </p:spPr>
        <p:txBody>
          <a:bodyPr wrap="square" lIns="127000" tIns="190500" rIns="190500" bIns="127000" rtlCol="0" anchor="ctr"/>
          <a:lstStyle/>
          <a:p>
            <a:pPr indent="0" marL="0">
              <a:buNone/>
            </a:pPr>
            <a:r>
              <a:rPr lang="en-US" sz="1800" dirty="0">
                <a:solidFill>
                  <a:srgbClr val="FFFFFF"/>
                </a:solidFill>
                <a:latin typeface="Meiryo" pitchFamily="34" charset="0"/>
                <a:ea typeface="Meiryo" pitchFamily="34" charset="-122"/>
                <a:cs typeface="Meiryo" pitchFamily="34" charset="-120"/>
              </a:rPr>
              <a:t>新しい会話形式のレイアウトを利用できます</a:t>
            </a:r>
            <a:endParaRPr lang="en-US" sz="1800" dirty="0"/>
          </a:p>
          <a:p>
            <a:pPr indent="0" marL="0">
              <a:buNone/>
            </a:pPr>
            <a:r>
              <a:rPr lang="en-US" sz="1800" dirty="0">
                <a:solidFill>
                  <a:srgbClr val="FFFFFF"/>
                </a:solidFill>
                <a:latin typeface="Meiryo" pitchFamily="34" charset="0"/>
                <a:ea typeface="Meiryo" pitchFamily="34" charset="-122"/>
                <a:cs typeface="Meiryo" pitchFamily="34" charset="-120"/>
              </a:rPr>
              <a:t>- アイコンと吹き出しによるタイムライン形式で対話を表現します</a:t>
            </a:r>
            <a:endParaRPr lang="en-US" sz="1800" dirty="0"/>
          </a:p>
        </p:txBody>
      </p:sp>
      <p:pic>
        <p:nvPicPr>
          <p:cNvPr id="4" name="Image 1" descr="preencoded.png">    </p:cNvPr>
          <p:cNvPicPr>
            <a:picLocks noChangeAspect="1"/>
          </p:cNvPicPr>
          <p:nvPr/>
        </p:nvPicPr>
        <p:blipFill>
          <a:blip r:embed="rId3">
            <a:extLst>
              <a:ext uri="{96DAC541-7B7A-43D3-8B79-37D633B846F1}">
                <asvg:svgBlip xmlns:asvg="http://schemas.microsoft.com/office/drawing/2016/SVG/main" r:embed="rId4"/>
              </a:ext>
            </a:extLst>
          </a:blip>
          <a:stretch>
            <a:fillRect/>
          </a:stretch>
        </p:blipFill>
        <p:spPr>
          <a:xfrm>
            <a:off x="1333500" y="2350740"/>
            <a:ext cx="5246489" cy="590401"/>
          </a:xfrm>
          <a:prstGeom prst="rect">
            <a:avLst/>
          </a:prstGeom>
        </p:spPr>
      </p:pic>
      <p:sp>
        <p:nvSpPr>
          <p:cNvPr id="5" name="Text 1"/>
          <p:cNvSpPr txBox="1"/>
          <p:nvPr/>
        </p:nvSpPr>
        <p:spPr>
          <a:xfrm>
            <a:off x="1476375" y="2350740"/>
            <a:ext cx="5103614" cy="590401"/>
          </a:xfrm>
          <a:prstGeom prst="rect">
            <a:avLst/>
          </a:prstGeom>
          <a:noFill/>
          <a:ln/>
        </p:spPr>
        <p:txBody>
          <a:bodyPr wrap="square" lIns="127000" tIns="190500" rIns="190500" bIns="127000" rtlCol="0" anchor="ctr"/>
          <a:lstStyle/>
          <a:p>
            <a:pPr indent="0" marL="0">
              <a:buNone/>
            </a:pPr>
            <a:r>
              <a:rPr lang="en-US" sz="1600" dirty="0">
                <a:solidFill>
                  <a:srgbClr val="222222"/>
                </a:solidFill>
                <a:latin typeface="Meiryo" pitchFamily="34" charset="0"/>
                <a:ea typeface="Meiryo" pitchFamily="34" charset="-122"/>
                <a:cs typeface="Meiryo" pitchFamily="34" charset="-120"/>
              </a:rPr>
              <a:t>このレイアウトの仕組みはどうなっているのですか？</a:t>
            </a:r>
            <a:endParaRPr lang="en-US" sz="1600" dirty="0"/>
          </a:p>
        </p:txBody>
      </p:sp>
      <p:pic>
        <p:nvPicPr>
          <p:cNvPr id="6" name="Image 2" descr="preencoded.png">    </p:cNvPr>
          <p:cNvPicPr>
            <a:picLocks noChangeAspect="1"/>
          </p:cNvPicPr>
          <p:nvPr/>
        </p:nvPicPr>
        <p:blipFill>
          <a:blip r:embed="rId5">
            <a:extLst>
              <a:ext uri="{96DAC541-7B7A-43D3-8B79-37D633B846F1}">
                <asvg:svgBlip xmlns:asvg="http://schemas.microsoft.com/office/drawing/2016/SVG/main" r:embed="rId6"/>
              </a:ext>
            </a:extLst>
          </a:blip>
          <a:stretch>
            <a:fillRect/>
          </a:stretch>
        </p:blipFill>
        <p:spPr>
          <a:xfrm>
            <a:off x="1257300" y="3131641"/>
            <a:ext cx="6553200" cy="914102"/>
          </a:xfrm>
          <a:prstGeom prst="rect">
            <a:avLst/>
          </a:prstGeom>
        </p:spPr>
      </p:pic>
      <p:sp>
        <p:nvSpPr>
          <p:cNvPr id="7" name="Text 2"/>
          <p:cNvSpPr txBox="1"/>
          <p:nvPr/>
        </p:nvSpPr>
        <p:spPr>
          <a:xfrm>
            <a:off x="1400175" y="3131641"/>
            <a:ext cx="6410325" cy="914102"/>
          </a:xfrm>
          <a:prstGeom prst="rect">
            <a:avLst/>
          </a:prstGeom>
          <a:noFill/>
          <a:ln/>
        </p:spPr>
        <p:txBody>
          <a:bodyPr wrap="square" lIns="127000" tIns="190500" rIns="190500" bIns="127000" rtlCol="0" anchor="ctr"/>
          <a:lstStyle/>
          <a:p>
            <a:pPr indent="0" marL="0">
              <a:buNone/>
            </a:pPr>
            <a:r>
              <a:rPr lang="en-US" sz="1600" dirty="0">
                <a:solidFill>
                  <a:srgbClr val="222222"/>
                </a:solidFill>
                <a:latin typeface="Meiryo" pitchFamily="34" charset="0"/>
                <a:ea typeface="Meiryo" pitchFamily="34" charset="-122"/>
                <a:cs typeface="Meiryo" pitchFamily="34" charset="-120"/>
              </a:rPr>
              <a:t>Markdownのリスト記法と画像記法（![名前](URL)）を使うだけで、自動的に吹き出しとアイコンに変換される仕組みです！</a:t>
            </a:r>
            <a:endParaRPr lang="en-US" sz="1600" dirty="0"/>
          </a:p>
        </p:txBody>
      </p:sp>
      <p:pic>
        <p:nvPicPr>
          <p:cNvPr id="8" name="Image 3" descr="preencoded.png">    </p:cNvPr>
          <p:cNvPicPr>
            <a:picLocks noChangeAspect="1"/>
          </p:cNvPicPr>
          <p:nvPr/>
        </p:nvPicPr>
        <p:blipFill>
          <a:blip r:embed="rId7">
            <a:extLst>
              <a:ext uri="{96DAC541-7B7A-43D3-8B79-37D633B846F1}">
                <asvg:svgBlip xmlns:asvg="http://schemas.microsoft.com/office/drawing/2016/SVG/main" r:embed="rId8"/>
              </a:ext>
            </a:extLst>
          </a:blip>
          <a:stretch>
            <a:fillRect/>
          </a:stretch>
        </p:blipFill>
        <p:spPr>
          <a:xfrm>
            <a:off x="1333500" y="4236244"/>
            <a:ext cx="6553200" cy="895052"/>
          </a:xfrm>
          <a:prstGeom prst="rect">
            <a:avLst/>
          </a:prstGeom>
        </p:spPr>
      </p:pic>
      <p:sp>
        <p:nvSpPr>
          <p:cNvPr id="9" name="Text 3"/>
          <p:cNvSpPr txBox="1"/>
          <p:nvPr/>
        </p:nvSpPr>
        <p:spPr>
          <a:xfrm>
            <a:off x="1476375" y="4236244"/>
            <a:ext cx="6410325" cy="895052"/>
          </a:xfrm>
          <a:prstGeom prst="rect">
            <a:avLst/>
          </a:prstGeom>
          <a:noFill/>
          <a:ln/>
        </p:spPr>
        <p:txBody>
          <a:bodyPr wrap="square" lIns="127000" tIns="190500" rIns="190500" bIns="127000" rtlCol="0" anchor="ctr"/>
          <a:lstStyle/>
          <a:p>
            <a:pPr indent="0" marL="0">
              <a:buNone/>
            </a:pPr>
            <a:r>
              <a:rPr lang="en-US" sz="1600" dirty="0">
                <a:solidFill>
                  <a:srgbClr val="222222"/>
                </a:solidFill>
                <a:latin typeface="Meiryo" pitchFamily="34" charset="0"/>
                <a:ea typeface="Meiryo" pitchFamily="34" charset="-122"/>
                <a:cs typeface="Meiryo" pitchFamily="34" charset="-120"/>
              </a:rPr>
              <a:t>なるほど！アイコン画像を指定しない場合は、このように自動でデフォルトの「シルエットアイコン」が表示されるので便利ですね。</a:t>
            </a:r>
            <a:endParaRPr lang="en-US" sz="1600" dirty="0"/>
          </a:p>
        </p:txBody>
      </p:sp>
      <p:pic>
        <p:nvPicPr>
          <p:cNvPr id="10" name="Image 4" descr="preencoded.png">    </p:cNvPr>
          <p:cNvPicPr>
            <a:picLocks noChangeAspect="1"/>
          </p:cNvPicPr>
          <p:nvPr/>
        </p:nvPicPr>
        <p:blipFill>
          <a:blip r:embed="rId9">
            <a:extLst>
              <a:ext uri="{96DAC541-7B7A-43D3-8B79-37D633B846F1}">
                <asvg:svgBlip xmlns:asvg="http://schemas.microsoft.com/office/drawing/2016/SVG/main" r:embed="rId10"/>
              </a:ext>
            </a:extLst>
          </a:blip>
          <a:stretch>
            <a:fillRect/>
          </a:stretch>
        </p:blipFill>
        <p:spPr>
          <a:xfrm>
            <a:off x="1257300" y="5321796"/>
            <a:ext cx="6553200" cy="895052"/>
          </a:xfrm>
          <a:prstGeom prst="rect">
            <a:avLst/>
          </a:prstGeom>
        </p:spPr>
      </p:pic>
      <p:sp>
        <p:nvSpPr>
          <p:cNvPr id="11" name="Text 4"/>
          <p:cNvSpPr txBox="1"/>
          <p:nvPr/>
        </p:nvSpPr>
        <p:spPr>
          <a:xfrm>
            <a:off x="1400175" y="5321796"/>
            <a:ext cx="6410325" cy="895052"/>
          </a:xfrm>
          <a:prstGeom prst="rect">
            <a:avLst/>
          </a:prstGeom>
          <a:noFill/>
          <a:ln/>
        </p:spPr>
        <p:txBody>
          <a:bodyPr wrap="square" lIns="127000" tIns="190500" rIns="190500" bIns="127000" rtlCol="0" anchor="ctr"/>
          <a:lstStyle/>
          <a:p>
            <a:pPr indent="0" marL="0">
              <a:buNone/>
            </a:pPr>
            <a:r>
              <a:rPr lang="en-US" sz="1600" dirty="0">
                <a:solidFill>
                  <a:srgbClr val="222222"/>
                </a:solidFill>
                <a:latin typeface="Meiryo" pitchFamily="34" charset="0"/>
                <a:ea typeface="Meiryo" pitchFamily="34" charset="-122"/>
                <a:cs typeface="Meiryo" pitchFamily="34" charset="-120"/>
              </a:rPr>
              <a:t>アイコンの色やテキスト色もテーマから自動抽出されます。プレゼンのアクセントとして自由に活用してください。</a:t>
            </a:r>
            <a:endParaRPr lang="en-US" sz="1600" dirty="0"/>
          </a:p>
        </p:txBody>
      </p:sp>
      <p:sp>
        <p:nvSpPr>
          <p:cNvPr id="12" name="Text 5"/>
          <p:cNvSpPr/>
          <p:nvPr/>
        </p:nvSpPr>
        <p:spPr>
          <a:xfrm>
            <a:off x="190500" y="150837"/>
            <a:ext cx="8763000" cy="317450"/>
          </a:xfrm>
          <a:prstGeom prst="rect">
            <a:avLst/>
          </a:prstGeom>
          <a:noFill/>
          <a:ln/>
        </p:spPr>
        <p:txBody>
          <a:bodyPr wrap="square" rtlCol="0" anchor="t"/>
          <a:lstStyle/>
          <a:p>
            <a:pPr indent="0" marL="0">
              <a:buNone/>
            </a:pPr>
            <a:r>
              <a:rPr lang="en-US" sz="2000" b="1" dirty="0">
                <a:solidFill>
                  <a:srgbClr val="000000"/>
                </a:solidFill>
                <a:latin typeface="Meiryo" pitchFamily="34" charset="0"/>
                <a:ea typeface="Meiryo" pitchFamily="34" charset="-122"/>
                <a:cs typeface="Meiryo" pitchFamily="34" charset="-120"/>
              </a:rPr>
              <a:t>会話レイアウト（conversation-content）の使用例</a:t>
            </a:r>
            <a:endParaRPr lang="en-US" sz="2000" dirty="0"/>
          </a:p>
        </p:txBody>
      </p:sp>
      <p:sp>
        <p:nvSpPr>
          <p:cNvPr id="13" name="Text 6"/>
          <p:cNvSpPr/>
          <p:nvPr/>
        </p:nvSpPr>
        <p:spPr>
          <a:xfrm>
            <a:off x="0" y="1714500"/>
            <a:ext cx="9144000" cy="297061"/>
          </a:xfrm>
          <a:prstGeom prst="rect">
            <a:avLst/>
          </a:prstGeom>
          <a:noFill/>
          <a:ln/>
        </p:spPr>
        <p:txBody>
          <a:bodyPr wrap="square" rtlCol="0" anchor="t"/>
          <a:lstStyle/>
          <a:p>
            <a:pPr algn="ctr" indent="0" marL="0">
              <a:buNone/>
            </a:pPr>
            <a:r>
              <a:rPr lang="en-US" sz="1800" b="1" dirty="0">
                <a:solidFill>
                  <a:srgbClr val="000000"/>
                </a:solidFill>
                <a:latin typeface="Meiryo" pitchFamily="34" charset="0"/>
                <a:ea typeface="Meiryo" pitchFamily="34" charset="-122"/>
                <a:cs typeface="Meiryo" pitchFamily="34" charset="-120"/>
              </a:rPr>
              <a:t>利用イメージ</a:t>
            </a:r>
            <a:endParaRPr lang="en-US" sz="1800" dirty="0"/>
          </a:p>
        </p:txBody>
      </p:sp>
      <p:pic>
        <p:nvPicPr>
          <p:cNvPr id="14" name="Image 5" descr="https://placehold.co/80">    </p:cNvPr>
          <p:cNvPicPr>
            <a:picLocks noChangeAspect="1"/>
          </p:cNvPicPr>
          <p:nvPr/>
        </p:nvPicPr>
        <p:blipFill>
          <a:blip r:embed="rId11"/>
          <a:stretch>
            <a:fillRect/>
          </a:stretch>
        </p:blipFill>
        <p:spPr>
          <a:xfrm>
            <a:off x="381000" y="2350740"/>
            <a:ext cx="762000" cy="762000"/>
          </a:xfrm>
          <a:prstGeom prst="rect">
            <a:avLst/>
          </a:prstGeom>
        </p:spPr>
      </p:pic>
      <p:pic>
        <p:nvPicPr>
          <p:cNvPr id="15" name="Image 6" descr="https://placehold.co/80">    </p:cNvPr>
          <p:cNvPicPr>
            <a:picLocks noChangeAspect="1"/>
          </p:cNvPicPr>
          <p:nvPr/>
        </p:nvPicPr>
        <p:blipFill>
          <a:blip r:embed="rId12"/>
          <a:stretch>
            <a:fillRect/>
          </a:stretch>
        </p:blipFill>
        <p:spPr>
          <a:xfrm>
            <a:off x="8001000" y="3131641"/>
            <a:ext cx="762000" cy="762000"/>
          </a:xfrm>
          <a:prstGeom prst="rect">
            <a:avLst/>
          </a:prstGeom>
        </p:spPr>
      </p:pic>
      <p:sp>
        <p:nvSpPr>
          <p:cNvPr id="16" name="Text 7"/>
          <p:cNvSpPr/>
          <p:nvPr/>
        </p:nvSpPr>
        <p:spPr>
          <a:xfrm>
            <a:off x="4678859" y="6172200"/>
            <a:ext cx="4274641" cy="209550"/>
          </a:xfrm>
          <a:prstGeom prst="rect">
            <a:avLst/>
          </a:prstGeom>
          <a:noFill/>
          <a:ln/>
        </p:spPr>
        <p:txBody>
          <a:bodyPr wrap="square" rtlCol="0" anchor="t"/>
          <a:lstStyle/>
          <a:p>
            <a:pPr algn="r" indent="0" marL="0">
              <a:buNone/>
            </a:pPr>
            <a:r>
              <a:rPr lang="en-US" sz="1100" dirty="0">
                <a:solidFill>
                  <a:srgbClr val="000000"/>
                </a:solidFill>
                <a:latin typeface="Meiryo" pitchFamily="34" charset="0"/>
                <a:ea typeface="Meiryo" pitchFamily="34" charset="-122"/>
                <a:cs typeface="Meiryo" pitchFamily="34" charset="-120"/>
              </a:rPr>
              <a:t>図表出典：サンプル記述</a:t>
            </a:r>
            <a:endParaRPr lang="en-US" sz="1100" dirty="0"/>
          </a:p>
        </p:txBody>
      </p:sp>
      <p:sp>
        <p:nvSpPr>
          <p:cNvPr id="17" name="Text 8"/>
          <p:cNvSpPr/>
          <p:nvPr/>
        </p:nvSpPr>
        <p:spPr>
          <a:xfrm>
            <a:off x="333375" y="3160365"/>
            <a:ext cx="857250" cy="152251"/>
          </a:xfrm>
          <a:prstGeom prst="rect">
            <a:avLst/>
          </a:prstGeom>
          <a:noFill/>
          <a:ln/>
        </p:spPr>
        <p:txBody>
          <a:bodyPr wrap="square" rtlCol="0" anchor="t"/>
          <a:lstStyle/>
          <a:p>
            <a:pPr algn="ctr" indent="0" marL="0">
              <a:buNone/>
            </a:pPr>
            <a:r>
              <a:rPr lang="en-US" sz="1000" dirty="0">
                <a:solidFill>
                  <a:srgbClr val="555555"/>
                </a:solidFill>
                <a:latin typeface="Meiryo" pitchFamily="34" charset="0"/>
                <a:ea typeface="Meiryo" pitchFamily="34" charset="-122"/>
                <a:cs typeface="Meiryo" pitchFamily="34" charset="-120"/>
              </a:rPr>
              <a:t>ユーザー</a:t>
            </a:r>
            <a:endParaRPr lang="en-US" sz="1000" dirty="0"/>
          </a:p>
        </p:txBody>
      </p:sp>
      <p:sp>
        <p:nvSpPr>
          <p:cNvPr id="18" name="Text 9"/>
          <p:cNvSpPr/>
          <p:nvPr/>
        </p:nvSpPr>
        <p:spPr>
          <a:xfrm>
            <a:off x="7953375" y="3941266"/>
            <a:ext cx="857250" cy="152251"/>
          </a:xfrm>
          <a:prstGeom prst="rect">
            <a:avLst/>
          </a:prstGeom>
          <a:noFill/>
          <a:ln/>
        </p:spPr>
        <p:txBody>
          <a:bodyPr wrap="square" rtlCol="0" anchor="t"/>
          <a:lstStyle/>
          <a:p>
            <a:pPr algn="ctr" indent="0" marL="0">
              <a:buNone/>
            </a:pPr>
            <a:r>
              <a:rPr lang="en-US" sz="1000" dirty="0">
                <a:solidFill>
                  <a:srgbClr val="555555"/>
                </a:solidFill>
                <a:latin typeface="Meiryo" pitchFamily="34" charset="0"/>
                <a:ea typeface="Meiryo" pitchFamily="34" charset="-122"/>
                <a:cs typeface="Meiryo" pitchFamily="34" charset="-120"/>
              </a:rPr>
              <a:t>Marp自動生成</a:t>
            </a:r>
            <a:endParaRPr lang="en-US" sz="1000" dirty="0"/>
          </a:p>
        </p:txBody>
      </p:sp>
      <p:sp>
        <p:nvSpPr>
          <p:cNvPr id="19" name="Text 10"/>
          <p:cNvSpPr/>
          <p:nvPr/>
        </p:nvSpPr>
        <p:spPr>
          <a:xfrm>
            <a:off x="333375" y="5045869"/>
            <a:ext cx="857250" cy="152251"/>
          </a:xfrm>
          <a:prstGeom prst="rect">
            <a:avLst/>
          </a:prstGeom>
          <a:noFill/>
          <a:ln/>
        </p:spPr>
        <p:txBody>
          <a:bodyPr wrap="square" rtlCol="0" anchor="t"/>
          <a:lstStyle/>
          <a:p>
            <a:pPr algn="ctr" indent="0" marL="0">
              <a:buNone/>
            </a:pPr>
            <a:r>
              <a:rPr lang="en-US" sz="1000" dirty="0">
                <a:solidFill>
                  <a:srgbClr val="555555"/>
                </a:solidFill>
                <a:latin typeface="Meiryo" pitchFamily="34" charset="0"/>
                <a:ea typeface="Meiryo" pitchFamily="34" charset="-122"/>
                <a:cs typeface="Meiryo" pitchFamily="34" charset="-120"/>
              </a:rPr>
              <a:t>名無し</a:t>
            </a:r>
            <a:endParaRPr lang="en-US" sz="1000" dirty="0"/>
          </a:p>
        </p:txBody>
      </p:sp>
      <p:sp>
        <p:nvSpPr>
          <p:cNvPr id="20" name="Text 11"/>
          <p:cNvSpPr/>
          <p:nvPr/>
        </p:nvSpPr>
        <p:spPr>
          <a:xfrm>
            <a:off x="190500" y="6572250"/>
            <a:ext cx="3680966" cy="171450"/>
          </a:xfrm>
          <a:prstGeom prst="rect">
            <a:avLst/>
          </a:prstGeom>
          <a:noFill/>
          <a:ln/>
        </p:spPr>
        <p:txBody>
          <a:bodyPr wrap="square" rtlCol="0" anchor="t"/>
          <a:lstStyle/>
          <a:p>
            <a:pPr algn="l" indent="0" marL="0">
              <a:buNone/>
            </a:pPr>
            <a:r>
              <a:rPr lang="en-US" sz="1100" dirty="0">
                <a:solidFill>
                  <a:srgbClr val="FFFFFF"/>
                </a:solidFill>
                <a:latin typeface="Meiryo" pitchFamily="34" charset="0"/>
                <a:ea typeface="Meiryo" pitchFamily="34" charset="-122"/>
                <a:cs typeface="Meiryo" pitchFamily="34" charset="-120"/>
              </a:rPr>
              <a:t>© 2026 N-Y-Public</a:t>
            </a:r>
            <a:endParaRPr lang="en-US" sz="1100" dirty="0"/>
          </a:p>
        </p:txBody>
      </p:sp>
      <p:sp>
        <p:nvSpPr>
          <p:cNvPr id="21" name="Text 12"/>
          <p:cNvSpPr/>
          <p:nvPr/>
        </p:nvSpPr>
        <p:spPr>
          <a:xfrm>
            <a:off x="4386858" y="6510337"/>
            <a:ext cx="4090392" cy="271463"/>
          </a:xfrm>
          <a:prstGeom prst="rect">
            <a:avLst/>
          </a:prstGeom>
          <a:noFill/>
          <a:ln/>
        </p:spPr>
        <p:txBody>
          <a:bodyPr wrap="square" rtlCol="0" anchor="t"/>
          <a:lstStyle/>
          <a:p>
            <a:pPr algn="r" indent="0" marL="0">
              <a:buNone/>
            </a:pPr>
            <a:r>
              <a:rPr lang="en-US" sz="1100" b="1" dirty="0">
                <a:solidFill>
                  <a:srgbClr val="FF0000"/>
                </a:solidFill>
                <a:latin typeface="Meiryo" pitchFamily="34" charset="0"/>
                <a:ea typeface="Meiryo" pitchFamily="34" charset="-122"/>
                <a:cs typeface="Meiryo" pitchFamily="34" charset="-120"/>
              </a:rPr>
              <a:t>CONFIDENTIAL</a:t>
            </a:r>
            <a:endParaRPr lang="en-US" sz="1100" dirty="0"/>
          </a:p>
        </p:txBody>
      </p:sp>
      <p:pic>
        <p:nvPicPr>
          <p:cNvPr id="22" name="Image 7" descr="/tmp/sandbox/oss/main/slides/D01-000001_Marpの使い方/N-Y-Public_Logo.jpg">    </p:cNvPr>
          <p:cNvPicPr>
            <a:picLocks noChangeAspect="1"/>
          </p:cNvPicPr>
          <p:nvPr/>
        </p:nvPicPr>
        <p:blipFill>
          <a:blip r:embed="rId13"/>
          <a:stretch>
            <a:fillRect/>
          </a:stretch>
        </p:blipFill>
        <p:spPr>
          <a:xfrm>
            <a:off x="7048500" y="47625"/>
            <a:ext cx="1905000" cy="476250"/>
          </a:xfrm>
          <a:prstGeom prst="rect">
            <a:avLst/>
          </a:prstGeom>
        </p:spPr>
      </p:pic>
      <p:sp>
        <p:nvSpPr>
          <p:cNvPr id="25" name="Slide Number Placeholder 0"/>
          <p:cNvSpPr>
            <a:spLocks noGrp="1"/>
          </p:cNvSpPr>
          <p:nvPr>
            <p:ph type="sldNum" sz="quarter" idx="4294967295"/>
          </p:nvPr>
        </p:nvSpPr>
        <p:spPr>
          <a:xfrm>
            <a:off x="8572500" y="6583680"/>
            <a:ext cx="800000" cy="300000"/>
          </a:xfrm>
          <a:prstGeom prst="rect">
            <a:avLst/>
          </a:prstGeom>
          <a:extLst>
            <a:ext uri="{C572A759-6A51-4108-AA02-DFA0A04FC94B}">
              <ma14:wrappingTextBoxFlag xmlns:ma14="http://schemas.microsoft.com/office/mac/drawingml/2011/main" val="0"/>
            </a:ext>
          </a:extLst>
        </p:spPr>
        <p:txBody>
          <a:bodyPr/>
          <a:lstStyle>
            <a:lvl1pPr>
              <a:defRPr sz="1200">
                <a:solidFill>
                  <a:srgbClr val="FFFFFF"/>
                </a:solidFill>
              </a:defRPr>
            </a:lvl1pPr>
          </a:lstStyle>
          <a:p>
            <a:pPr algn="r"/>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nvSpPr>
        <p:spPr>
          <a:xfrm>
            <a:off x="383857" y="1302990"/>
            <a:ext cx="8379142" cy="2409825"/>
          </a:xfrm>
          <a:prstGeom prst="rect">
            <a:avLst/>
          </a:prstGeom>
          <a:noFill/>
          <a:ln/>
        </p:spPr>
        <p:txBody>
          <a:bodyPr wrap="square" rtlCol="0" anchor="t"/>
          <a:lstStyle/>
          <a:p>
            <a:pPr marL="342900" indent="-342900">
              <a:lnSpc>
                <a:spcPct val="100000"/>
              </a:lnSpc>
              <a:buSzPct val="100000"/>
              <a:buChar char="•"/>
            </a:pPr>
            <a:r>
              <a:rPr lang="en-US" sz="1800" dirty="0">
                <a:solidFill>
                  <a:srgbClr val="000000"/>
                </a:solidFill>
                <a:latin typeface="Meiryo" pitchFamily="34" charset="0"/>
                <a:ea typeface="Meiryo" pitchFamily="34" charset="-122"/>
                <a:cs typeface="Meiryo" pitchFamily="34" charset="-120"/>
              </a:rPr>
              <a:t>ここからワイドコンテンツの本文になります</a:t>
            </a:r>
            <a:endParaRPr lang="en-US" sz="1800" dirty="0"/>
          </a:p>
          <a:p>
            <a:pPr marL="342900" indent="-342900">
              <a:lnSpc>
                <a:spcPct val="100000"/>
              </a:lnSpc>
              <a:buSzPct val="100000"/>
              <a:buChar char="•"/>
            </a:pPr>
            <a:r>
              <a:rPr lang="en-US" sz="1800" dirty="0">
                <a:solidFill>
                  <a:srgbClr val="000000"/>
                </a:solidFill>
                <a:latin typeface="Meiryo" pitchFamily="34" charset="0"/>
                <a:ea typeface="Meiryo" pitchFamily="34" charset="-122"/>
                <a:cs typeface="Meiryo" pitchFamily="34" charset="-120"/>
              </a:rPr>
              <a:t>&lt;!-- _class: wide-content --&gt; を指定すると、 H2背景帯が非表示になります</a:t>
            </a:r>
            <a:endParaRPr lang="en-US" sz="1800" dirty="0"/>
          </a:p>
          <a:p>
            <a:pPr marL="342900" indent="-342900">
              <a:lnSpc>
                <a:spcPct val="100000"/>
              </a:lnSpc>
              <a:buSzPct val="100000"/>
              <a:buChar char="•"/>
            </a:pPr>
            <a:r>
              <a:rPr lang="en-US" sz="1800" dirty="0">
                <a:solidFill>
                  <a:srgbClr val="000000"/>
                </a:solidFill>
                <a:latin typeface="Meiryo" pitchFamily="34" charset="0"/>
                <a:ea typeface="Meiryo" pitchFamily="34" charset="-122"/>
                <a:cs typeface="Meiryo" pitchFamily="34" charset="-120"/>
              </a:rPr>
              <a:t>画面幅をより広く使い、大きな写真や複雑な図表などを配置するのにおすすめです</a:t>
            </a:r>
            <a:endParaRPr lang="en-US" sz="1800" dirty="0"/>
          </a:p>
          <a:p>
            <a:pPr marL="342900" indent="-342900">
              <a:lnSpc>
                <a:spcPct val="100000"/>
              </a:lnSpc>
              <a:buSzPct val="100000"/>
              <a:buChar char="•"/>
            </a:pPr>
            <a:r>
              <a:rPr lang="en-US" sz="1800" dirty="0">
                <a:solidFill>
                  <a:srgbClr val="000000"/>
                </a:solidFill>
                <a:latin typeface="Meiryo" pitchFamily="34" charset="0"/>
                <a:ea typeface="Meiryo" pitchFamily="34" charset="-122"/>
                <a:cs typeface="Meiryo" pitchFamily="34" charset="-120"/>
              </a:rPr>
              <a:t>会話レイアウトや通常レイアウトと組み合わせて、用途に合わせて使い分けることができます</a:t>
            </a:r>
            <a:endParaRPr lang="en-US" sz="1800" dirty="0"/>
          </a:p>
          <a:p>
            <a:pPr marL="342900" indent="-342900">
              <a:lnSpc>
                <a:spcPct val="100000"/>
              </a:lnSpc>
              <a:buSzPct val="100000"/>
              <a:buChar char="•"/>
            </a:pPr>
            <a:endParaRPr lang="en-US" sz="1800" dirty="0"/>
          </a:p>
        </p:txBody>
      </p:sp>
      <p:sp>
        <p:nvSpPr>
          <p:cNvPr id="3" name="Text 1"/>
          <p:cNvSpPr/>
          <p:nvPr/>
        </p:nvSpPr>
        <p:spPr>
          <a:xfrm>
            <a:off x="190500" y="127025"/>
            <a:ext cx="8763000" cy="317450"/>
          </a:xfrm>
          <a:prstGeom prst="rect">
            <a:avLst/>
          </a:prstGeom>
          <a:noFill/>
          <a:ln/>
        </p:spPr>
        <p:txBody>
          <a:bodyPr wrap="square" rtlCol="0" anchor="t"/>
          <a:lstStyle/>
          <a:p>
            <a:pPr indent="0" marL="0">
              <a:buNone/>
            </a:pPr>
            <a:r>
              <a:rPr lang="en-US" sz="2000" b="1" dirty="0">
                <a:solidFill>
                  <a:srgbClr val="000000"/>
                </a:solidFill>
                <a:latin typeface="Meiryo" pitchFamily="34" charset="0"/>
                <a:ea typeface="Meiryo" pitchFamily="34" charset="-122"/>
                <a:cs typeface="Meiryo" pitchFamily="34" charset="-120"/>
              </a:rPr>
              <a:t>ワイドレイアウト（wide-content）の使用例</a:t>
            </a:r>
            <a:endParaRPr lang="en-US" sz="2000" dirty="0"/>
          </a:p>
        </p:txBody>
      </p:sp>
      <p:sp>
        <p:nvSpPr>
          <p:cNvPr id="4" name="Text 2"/>
          <p:cNvSpPr/>
          <p:nvPr/>
        </p:nvSpPr>
        <p:spPr>
          <a:xfrm>
            <a:off x="0" y="571500"/>
            <a:ext cx="9144000" cy="297061"/>
          </a:xfrm>
          <a:prstGeom prst="rect">
            <a:avLst/>
          </a:prstGeom>
          <a:noFill/>
          <a:ln/>
        </p:spPr>
        <p:txBody>
          <a:bodyPr wrap="square" rtlCol="0" anchor="t"/>
          <a:lstStyle/>
          <a:p>
            <a:pPr algn="ctr" indent="0" marL="0">
              <a:buNone/>
            </a:pPr>
            <a:r>
              <a:rPr lang="en-US" sz="1800" b="1" dirty="0">
                <a:solidFill>
                  <a:srgbClr val="000000"/>
                </a:solidFill>
                <a:latin typeface="Meiryo" pitchFamily="34" charset="0"/>
                <a:ea typeface="Meiryo" pitchFamily="34" charset="-122"/>
                <a:cs typeface="Meiryo" pitchFamily="34" charset="-120"/>
              </a:rPr>
              <a:t>利用イメージ</a:t>
            </a:r>
            <a:endParaRPr lang="en-US" sz="1800" dirty="0"/>
          </a:p>
        </p:txBody>
      </p:sp>
      <p:sp>
        <p:nvSpPr>
          <p:cNvPr id="5" name="Text 3"/>
          <p:cNvSpPr/>
          <p:nvPr/>
        </p:nvSpPr>
        <p:spPr>
          <a:xfrm>
            <a:off x="4678859" y="6172200"/>
            <a:ext cx="4274641" cy="209550"/>
          </a:xfrm>
          <a:prstGeom prst="rect">
            <a:avLst/>
          </a:prstGeom>
          <a:noFill/>
          <a:ln/>
        </p:spPr>
        <p:txBody>
          <a:bodyPr wrap="square" rtlCol="0" anchor="t"/>
          <a:lstStyle/>
          <a:p>
            <a:pPr algn="r" indent="0" marL="0">
              <a:buNone/>
            </a:pPr>
            <a:r>
              <a:rPr lang="en-US" sz="1100" dirty="0">
                <a:solidFill>
                  <a:srgbClr val="000000"/>
                </a:solidFill>
                <a:latin typeface="Meiryo" pitchFamily="34" charset="0"/>
                <a:ea typeface="Meiryo" pitchFamily="34" charset="-122"/>
                <a:cs typeface="Meiryo" pitchFamily="34" charset="-120"/>
              </a:rPr>
              <a:t>図表出典：サンプル記述</a:t>
            </a:r>
            <a:endParaRPr lang="en-US" sz="1100" dirty="0"/>
          </a:p>
        </p:txBody>
      </p:sp>
      <p:sp>
        <p:nvSpPr>
          <p:cNvPr id="6" name="Text 4"/>
          <p:cNvSpPr/>
          <p:nvPr/>
        </p:nvSpPr>
        <p:spPr>
          <a:xfrm>
            <a:off x="190500" y="6572250"/>
            <a:ext cx="3680966" cy="171450"/>
          </a:xfrm>
          <a:prstGeom prst="rect">
            <a:avLst/>
          </a:prstGeom>
          <a:noFill/>
          <a:ln/>
        </p:spPr>
        <p:txBody>
          <a:bodyPr wrap="square" rtlCol="0" anchor="t"/>
          <a:lstStyle/>
          <a:p>
            <a:pPr algn="l" indent="0" marL="0">
              <a:buNone/>
            </a:pPr>
            <a:r>
              <a:rPr lang="en-US" sz="1100" dirty="0">
                <a:solidFill>
                  <a:srgbClr val="FFFFFF"/>
                </a:solidFill>
                <a:latin typeface="Meiryo" pitchFamily="34" charset="0"/>
                <a:ea typeface="Meiryo" pitchFamily="34" charset="-122"/>
                <a:cs typeface="Meiryo" pitchFamily="34" charset="-120"/>
              </a:rPr>
              <a:t>© 2026 N-Y-Public</a:t>
            </a:r>
            <a:endParaRPr lang="en-US" sz="1100" dirty="0"/>
          </a:p>
        </p:txBody>
      </p:sp>
      <p:sp>
        <p:nvSpPr>
          <p:cNvPr id="7" name="Text 5"/>
          <p:cNvSpPr/>
          <p:nvPr/>
        </p:nvSpPr>
        <p:spPr>
          <a:xfrm>
            <a:off x="4386858" y="6510337"/>
            <a:ext cx="4090392" cy="271463"/>
          </a:xfrm>
          <a:prstGeom prst="rect">
            <a:avLst/>
          </a:prstGeom>
          <a:noFill/>
          <a:ln/>
        </p:spPr>
        <p:txBody>
          <a:bodyPr wrap="square" rtlCol="0" anchor="t"/>
          <a:lstStyle/>
          <a:p>
            <a:pPr algn="r" indent="0" marL="0">
              <a:buNone/>
            </a:pPr>
            <a:r>
              <a:rPr lang="en-US" sz="1100" b="1" dirty="0">
                <a:solidFill>
                  <a:srgbClr val="FF0000"/>
                </a:solidFill>
                <a:latin typeface="Meiryo" pitchFamily="34" charset="0"/>
                <a:ea typeface="Meiryo" pitchFamily="34" charset="-122"/>
                <a:cs typeface="Meiryo" pitchFamily="34" charset="-120"/>
              </a:rPr>
              <a:t>CONFIDENTIAL</a:t>
            </a:r>
            <a:endParaRPr lang="en-US" sz="1100" dirty="0"/>
          </a:p>
        </p:txBody>
      </p:sp>
      <p:pic>
        <p:nvPicPr>
          <p:cNvPr id="8" name="Image 0" descr="/tmp/sandbox/oss/main/slides/D01-000001_Marpの使い方/N-Y-Public_Logo.jpg">    </p:cNvPr>
          <p:cNvPicPr>
            <a:picLocks noChangeAspect="1"/>
          </p:cNvPicPr>
          <p:nvPr/>
        </p:nvPicPr>
        <p:blipFill>
          <a:blip r:embed="rId1"/>
          <a:stretch>
            <a:fillRect/>
          </a:stretch>
        </p:blipFill>
        <p:spPr>
          <a:xfrm>
            <a:off x="7048500" y="47625"/>
            <a:ext cx="1905000" cy="476250"/>
          </a:xfrm>
          <a:prstGeom prst="rect">
            <a:avLst/>
          </a:prstGeom>
        </p:spPr>
      </p:pic>
      <p:sp>
        <p:nvSpPr>
          <p:cNvPr id="25" name="Slide Number Placeholder 0"/>
          <p:cNvSpPr>
            <a:spLocks noGrp="1"/>
          </p:cNvSpPr>
          <p:nvPr>
            <p:ph type="sldNum" sz="quarter" idx="4294967295"/>
          </p:nvPr>
        </p:nvSpPr>
        <p:spPr>
          <a:xfrm>
            <a:off x="8572500" y="6583680"/>
            <a:ext cx="800000" cy="300000"/>
          </a:xfrm>
          <a:prstGeom prst="rect">
            <a:avLst/>
          </a:prstGeom>
          <a:extLst>
            <a:ext uri="{C572A759-6A51-4108-AA02-DFA0A04FC94B}">
              <ma14:wrappingTextBoxFlag xmlns:ma14="http://schemas.microsoft.com/office/mac/drawingml/2011/main" val="0"/>
            </a:ext>
          </a:extLst>
        </p:spPr>
        <p:txBody>
          <a:bodyPr/>
          <a:lstStyle>
            <a:lvl1pPr>
              <a:defRPr sz="1200">
                <a:solidFill>
                  <a:srgbClr val="FFFFFF"/>
                </a:solidFill>
              </a:defRPr>
            </a:lvl1pPr>
          </a:lstStyle>
          <a:p>
            <a:pPr algn="r"/>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nvSpPr>
        <p:spPr>
          <a:xfrm>
            <a:off x="381000" y="2190750"/>
            <a:ext cx="8382000" cy="1715839"/>
          </a:xfrm>
          <a:prstGeom prst="rect">
            <a:avLst/>
          </a:prstGeom>
          <a:noFill/>
          <a:ln/>
        </p:spPr>
        <p:txBody>
          <a:bodyPr wrap="square" rtlCol="0" anchor="t"/>
          <a:lstStyle/>
          <a:p>
            <a:pPr indent="0" marL="0">
              <a:buNone/>
            </a:pPr>
            <a:r>
              <a:rPr lang="en-US" sz="1170" dirty="0">
                <a:solidFill>
                  <a:srgbClr val="000000"/>
                </a:solidFill>
                <a:latin typeface="Meiryo" pitchFamily="34" charset="0"/>
                <a:ea typeface="Meiryo" pitchFamily="34" charset="-122"/>
                <a:cs typeface="Meiryo" pitchFamily="34" charset="-120"/>
              </a:rPr>
              <a:t>
分類
指定クラス
役割・効果
主張縮小
claim-1 〜 claim-8
H2背景帯の文字数・行数（2〜8行）に応じた文字縮小
表題縮小
title-1 〜 title-3
2〜3行に折り返されるスライド表題のサイズ最適化
図表縮小
mermaid-sm / mermaid-xs
Mermaid図の最大高さを 75% / 55% に制限
領域拡張
wide-content
H2背景帯を非表示にし、本文領域を縦550pxに拡張
</a:t>
            </a:r>
            <a:endParaRPr lang="en-US" sz="1170" dirty="0"/>
          </a:p>
        </p:txBody>
      </p:sp>
      <p:sp>
        <p:nvSpPr>
          <p:cNvPr id="3" name="Text 1"/>
          <p:cNvSpPr/>
          <p:nvPr/>
        </p:nvSpPr>
        <p:spPr>
          <a:xfrm>
            <a:off x="383857" y="4036070"/>
            <a:ext cx="8379142" cy="626566"/>
          </a:xfrm>
          <a:prstGeom prst="rect">
            <a:avLst/>
          </a:prstGeom>
          <a:noFill/>
          <a:ln/>
        </p:spPr>
        <p:txBody>
          <a:bodyPr wrap="square" rtlCol="0" anchor="t"/>
          <a:lstStyle/>
          <a:p>
            <a:pPr marL="342900" indent="-342900">
              <a:lnSpc>
                <a:spcPct val="100000"/>
              </a:lnSpc>
              <a:buSzPct val="100000"/>
              <a:buChar char="•"/>
            </a:pPr>
            <a:r>
              <a:rPr lang="en-US" sz="1620" dirty="0">
                <a:solidFill>
                  <a:srgbClr val="000000"/>
                </a:solidFill>
                <a:latin typeface="Meiryo" pitchFamily="34" charset="0"/>
                <a:ea typeface="Meiryo" pitchFamily="34" charset="-122"/>
                <a:cs typeface="Meiryo" pitchFamily="34" charset="-120"/>
              </a:rPr>
              <a:t>※ クラスは &lt;!-- _class: claim-2 mermaid-sm --&gt; のように半角スペース区切りで併用可能</a:t>
            </a:r>
            <a:endParaRPr lang="en-US" sz="1620" dirty="0"/>
          </a:p>
          <a:p>
            <a:pPr marL="342900" indent="-342900">
              <a:lnSpc>
                <a:spcPct val="100000"/>
              </a:lnSpc>
              <a:buSzPct val="100000"/>
              <a:buChar char="•"/>
            </a:pPr>
            <a:endParaRPr lang="en-US" sz="1620" dirty="0"/>
          </a:p>
        </p:txBody>
      </p:sp>
      <p:sp>
        <p:nvSpPr>
          <p:cNvPr id="4" name="Text 2"/>
          <p:cNvSpPr/>
          <p:nvPr/>
        </p:nvSpPr>
        <p:spPr>
          <a:xfrm>
            <a:off x="190500" y="150837"/>
            <a:ext cx="8763000" cy="317450"/>
          </a:xfrm>
          <a:prstGeom prst="rect">
            <a:avLst/>
          </a:prstGeom>
          <a:noFill/>
          <a:ln/>
        </p:spPr>
        <p:txBody>
          <a:bodyPr wrap="square" rtlCol="0" anchor="t"/>
          <a:lstStyle/>
          <a:p>
            <a:pPr indent="0" marL="0">
              <a:buNone/>
            </a:pPr>
            <a:r>
              <a:rPr lang="en-US" sz="2000" b="1" dirty="0">
                <a:solidFill>
                  <a:srgbClr val="000000"/>
                </a:solidFill>
                <a:latin typeface="Meiryo" pitchFamily="34" charset="0"/>
                <a:ea typeface="Meiryo" pitchFamily="34" charset="-122"/>
                <a:cs typeface="Meiryo" pitchFamily="34" charset="-120"/>
              </a:rPr>
              <a:t>はみ出し防止とサイズ調整クラス</a:t>
            </a:r>
            <a:endParaRPr lang="en-US" sz="2000" dirty="0"/>
          </a:p>
        </p:txBody>
      </p:sp>
      <p:sp>
        <p:nvSpPr>
          <p:cNvPr id="5" name="Text 3"/>
          <p:cNvSpPr/>
          <p:nvPr/>
        </p:nvSpPr>
        <p:spPr>
          <a:xfrm>
            <a:off x="0" y="1714500"/>
            <a:ext cx="9144000" cy="297061"/>
          </a:xfrm>
          <a:prstGeom prst="rect">
            <a:avLst/>
          </a:prstGeom>
          <a:noFill/>
          <a:ln/>
        </p:spPr>
        <p:txBody>
          <a:bodyPr wrap="square" rtlCol="0" anchor="t"/>
          <a:lstStyle/>
          <a:p>
            <a:pPr algn="ctr" indent="0" marL="0">
              <a:buNone/>
            </a:pPr>
            <a:r>
              <a:rPr lang="en-US" sz="1800" b="1" dirty="0">
                <a:solidFill>
                  <a:srgbClr val="000000"/>
                </a:solidFill>
                <a:latin typeface="Meiryo" pitchFamily="34" charset="0"/>
                <a:ea typeface="Meiryo" pitchFamily="34" charset="-122"/>
                <a:cs typeface="Meiryo" pitchFamily="34" charset="-120"/>
              </a:rPr>
              <a:t>レイアウト調整用クラスの一覧と指定方法</a:t>
            </a:r>
            <a:endParaRPr lang="en-US" sz="1800" dirty="0"/>
          </a:p>
        </p:txBody>
      </p:sp>
      <p:sp>
        <p:nvSpPr>
          <p:cNvPr id="6" name="Text 4"/>
          <p:cNvSpPr/>
          <p:nvPr/>
        </p:nvSpPr>
        <p:spPr>
          <a:xfrm>
            <a:off x="4255740" y="6172200"/>
            <a:ext cx="4697760" cy="209550"/>
          </a:xfrm>
          <a:prstGeom prst="rect">
            <a:avLst/>
          </a:prstGeom>
          <a:noFill/>
          <a:ln/>
        </p:spPr>
        <p:txBody>
          <a:bodyPr wrap="square" rtlCol="0" anchor="t"/>
          <a:lstStyle/>
          <a:p>
            <a:pPr algn="r" indent="0" marL="0">
              <a:buNone/>
            </a:pPr>
            <a:r>
              <a:rPr lang="en-US" sz="1100" dirty="0">
                <a:solidFill>
                  <a:srgbClr val="000000"/>
                </a:solidFill>
                <a:latin typeface="Meiryo" pitchFamily="34" charset="0"/>
                <a:ea typeface="Meiryo" pitchFamily="34" charset="-122"/>
                <a:cs typeface="Meiryo" pitchFamily="34" charset="-120"/>
              </a:rPr>
              <a:t>図表出典：スタイル調整ガイド</a:t>
            </a:r>
            <a:endParaRPr lang="en-US" sz="1100" dirty="0"/>
          </a:p>
        </p:txBody>
      </p:sp>
      <p:sp>
        <p:nvSpPr>
          <p:cNvPr id="7" name="Text 5"/>
          <p:cNvSpPr/>
          <p:nvPr/>
        </p:nvSpPr>
        <p:spPr>
          <a:xfrm>
            <a:off x="190500" y="6572250"/>
            <a:ext cx="3680966" cy="171450"/>
          </a:xfrm>
          <a:prstGeom prst="rect">
            <a:avLst/>
          </a:prstGeom>
          <a:noFill/>
          <a:ln/>
        </p:spPr>
        <p:txBody>
          <a:bodyPr wrap="square" rtlCol="0" anchor="t"/>
          <a:lstStyle/>
          <a:p>
            <a:pPr algn="l" indent="0" marL="0">
              <a:buNone/>
            </a:pPr>
            <a:r>
              <a:rPr lang="en-US" sz="1100" dirty="0">
                <a:solidFill>
                  <a:srgbClr val="FFFFFF"/>
                </a:solidFill>
                <a:latin typeface="Meiryo" pitchFamily="34" charset="0"/>
                <a:ea typeface="Meiryo" pitchFamily="34" charset="-122"/>
                <a:cs typeface="Meiryo" pitchFamily="34" charset="-120"/>
              </a:rPr>
              <a:t>© 2026 N-Y-Public</a:t>
            </a:r>
            <a:endParaRPr lang="en-US" sz="1100" dirty="0"/>
          </a:p>
        </p:txBody>
      </p:sp>
      <p:sp>
        <p:nvSpPr>
          <p:cNvPr id="8" name="Text 6"/>
          <p:cNvSpPr/>
          <p:nvPr/>
        </p:nvSpPr>
        <p:spPr>
          <a:xfrm>
            <a:off x="4386858" y="6510337"/>
            <a:ext cx="4090392" cy="271463"/>
          </a:xfrm>
          <a:prstGeom prst="rect">
            <a:avLst/>
          </a:prstGeom>
          <a:noFill/>
          <a:ln/>
        </p:spPr>
        <p:txBody>
          <a:bodyPr wrap="square" rtlCol="0" anchor="t"/>
          <a:lstStyle/>
          <a:p>
            <a:pPr algn="r" indent="0" marL="0">
              <a:buNone/>
            </a:pPr>
            <a:r>
              <a:rPr lang="en-US" sz="1100" b="1" dirty="0">
                <a:solidFill>
                  <a:srgbClr val="FF0000"/>
                </a:solidFill>
                <a:latin typeface="Meiryo" pitchFamily="34" charset="0"/>
                <a:ea typeface="Meiryo" pitchFamily="34" charset="-122"/>
                <a:cs typeface="Meiryo" pitchFamily="34" charset="-120"/>
              </a:rPr>
              <a:t>CONFIDENTIAL</a:t>
            </a:r>
            <a:endParaRPr lang="en-US" sz="1100" dirty="0"/>
          </a:p>
        </p:txBody>
      </p:sp>
      <p:sp>
        <p:nvSpPr>
          <p:cNvPr id="9" name="Text 7"/>
          <p:cNvSpPr/>
          <p:nvPr/>
        </p:nvSpPr>
        <p:spPr>
          <a:xfrm>
            <a:off x="0" y="666750"/>
            <a:ext cx="9144000" cy="952500"/>
          </a:xfrm>
          <a:prstGeom prst="rect">
            <a:avLst/>
          </a:prstGeom>
          <a:noFill/>
          <a:ln/>
        </p:spPr>
        <p:txBody>
          <a:bodyPr wrap="square" rtlCol="0" anchor="ctr"/>
          <a:lstStyle/>
          <a:p>
            <a:pPr marL="342900" indent="-342900">
              <a:lnSpc>
                <a:spcPct val="100000"/>
              </a:lnSpc>
              <a:buSzPct val="100000"/>
              <a:buChar char="•"/>
            </a:pPr>
            <a:r>
              <a:rPr lang="en-US" sz="1800" dirty="0">
                <a:solidFill>
                  <a:srgbClr val="FFFFFF"/>
                </a:solidFill>
                <a:latin typeface="Meiryo" pitchFamily="34" charset="0"/>
                <a:ea typeface="Meiryo" pitchFamily="34" charset="-122"/>
                <a:cs typeface="Meiryo" pitchFamily="34" charset="-120"/>
              </a:rPr>
              <a:t>文字量や行数の増加による枠からのはみ出しを防ぐため、豊富な調整クラスを用意</a:t>
            </a:r>
            <a:endParaRPr lang="en-US" sz="1800" dirty="0"/>
          </a:p>
          <a:p>
            <a:pPr lvl="1" marL="685800" indent="-342900">
              <a:lnSpc>
                <a:spcPct val="100000"/>
              </a:lnSpc>
              <a:buSzPct val="100000"/>
              <a:buChar char="•"/>
            </a:pPr>
            <a:r>
              <a:rPr lang="en-US" sz="1800" dirty="0">
                <a:solidFill>
                  <a:srgbClr val="FFFFFF"/>
                </a:solidFill>
                <a:latin typeface="Meiryo" pitchFamily="34" charset="0"/>
                <a:ea typeface="Meiryo" pitchFamily="34" charset="-122"/>
                <a:cs typeface="Meiryo" pitchFamily="34" charset="-120"/>
              </a:rPr>
              <a:t>スライド先頭にクラスを指定するだけで、フォントサイズや領域を最適化</a:t>
            </a:r>
            <a:endParaRPr lang="en-US" sz="1800" dirty="0"/>
          </a:p>
        </p:txBody>
      </p:sp>
      <p:pic>
        <p:nvPicPr>
          <p:cNvPr id="10" name="Image 0" descr="/tmp/sandbox/oss/main/slides/D01-000001_Marpの使い方/N-Y-Public_Logo.jpg">    </p:cNvPr>
          <p:cNvPicPr>
            <a:picLocks noChangeAspect="1"/>
          </p:cNvPicPr>
          <p:nvPr/>
        </p:nvPicPr>
        <p:blipFill>
          <a:blip r:embed="rId1"/>
          <a:stretch>
            <a:fillRect/>
          </a:stretch>
        </p:blipFill>
        <p:spPr>
          <a:xfrm>
            <a:off x="7048500" y="47625"/>
            <a:ext cx="1905000" cy="476250"/>
          </a:xfrm>
          <a:prstGeom prst="rect">
            <a:avLst/>
          </a:prstGeom>
        </p:spPr>
      </p:pic>
      <p:sp>
        <p:nvSpPr>
          <p:cNvPr id="25" name="Slide Number Placeholder 0"/>
          <p:cNvSpPr>
            <a:spLocks noGrp="1"/>
          </p:cNvSpPr>
          <p:nvPr>
            <p:ph type="sldNum" sz="quarter" idx="4294967295"/>
          </p:nvPr>
        </p:nvSpPr>
        <p:spPr>
          <a:xfrm>
            <a:off x="8572500" y="6583680"/>
            <a:ext cx="800000" cy="300000"/>
          </a:xfrm>
          <a:prstGeom prst="rect">
            <a:avLst/>
          </a:prstGeom>
          <a:extLst>
            <a:ext uri="{C572A759-6A51-4108-AA02-DFA0A04FC94B}">
              <ma14:wrappingTextBoxFlag xmlns:ma14="http://schemas.microsoft.com/office/mac/drawingml/2011/main" val="0"/>
            </a:ext>
          </a:extLst>
        </p:spPr>
        <p:txBody>
          <a:bodyPr/>
          <a:lstStyle>
            <a:lvl1pPr>
              <a:defRPr sz="1200">
                <a:solidFill>
                  <a:srgbClr val="FFFFFF"/>
                </a:solidFill>
              </a:defRPr>
            </a:lvl1pPr>
          </a:lstStyle>
          <a:p>
            <a:pPr algn="r"/>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nvSpPr>
        <p:spPr>
          <a:xfrm>
            <a:off x="383857" y="2350740"/>
            <a:ext cx="8379142" cy="2790825"/>
          </a:xfrm>
          <a:prstGeom prst="rect">
            <a:avLst/>
          </a:prstGeom>
          <a:noFill/>
          <a:ln/>
        </p:spPr>
        <p:txBody>
          <a:bodyPr wrap="square" rtlCol="0" anchor="t"/>
          <a:lstStyle/>
          <a:p>
            <a:pPr marL="342900" indent="-342900">
              <a:lnSpc>
                <a:spcPct val="100000"/>
              </a:lnSpc>
              <a:buSzPct val="100000"/>
              <a:buChar char="•"/>
            </a:pPr>
            <a:r>
              <a:rPr lang="en-US" sz="1800" dirty="0">
                <a:solidFill>
                  <a:srgbClr val="000000"/>
                </a:solidFill>
                <a:latin typeface="Meiryo" pitchFamily="34" charset="0"/>
                <a:ea typeface="Meiryo" pitchFamily="34" charset="-122"/>
                <a:cs typeface="Meiryo" pitchFamily="34" charset="-120"/>
              </a:rPr>
              <a:t>ステップ1：依存パッケージのインストール</a:t>
            </a:r>
            <a:endParaRPr lang="en-US" sz="1800" dirty="0"/>
          </a:p>
          <a:p>
            <a:pPr lvl="1" marL="685800" indent="-342900">
              <a:lnSpc>
                <a:spcPct val="100000"/>
              </a:lnSpc>
              <a:buSzPct val="100000"/>
              <a:buChar char="•"/>
            </a:pPr>
            <a:r>
              <a:rPr lang="en-US" sz="1800" dirty="0">
                <a:solidFill>
                  <a:srgbClr val="000000"/>
                </a:solidFill>
                <a:latin typeface="Meiryo" pitchFamily="34" charset="0"/>
                <a:ea typeface="Meiryo" pitchFamily="34" charset="-122"/>
                <a:cs typeface="Meiryo" pitchFamily="34" charset="-120"/>
              </a:rPr>
              <a:t>リポジトリ直下で npm install を実行し、ライブラリ群を導入</a:t>
            </a:r>
            <a:endParaRPr lang="en-US" sz="1800" dirty="0"/>
          </a:p>
          <a:p>
            <a:pPr marL="342900" indent="-342900">
              <a:lnSpc>
                <a:spcPct val="100000"/>
              </a:lnSpc>
              <a:buSzPct val="100000"/>
              <a:buChar char="•"/>
            </a:pPr>
            <a:r>
              <a:rPr lang="en-US" sz="1800" dirty="0">
                <a:solidFill>
                  <a:srgbClr val="000000"/>
                </a:solidFill>
                <a:latin typeface="Meiryo" pitchFamily="34" charset="0"/>
                <a:ea typeface="Meiryo" pitchFamily="34" charset="-122"/>
                <a:cs typeface="Meiryo" pitchFamily="34" charset="-120"/>
              </a:rPr>
              <a:t>ステップ2：MCPサーバーのビルド</a:t>
            </a:r>
            <a:endParaRPr lang="en-US" sz="1800" dirty="0"/>
          </a:p>
          <a:p>
            <a:pPr lvl="1" marL="685800" indent="-342900">
              <a:lnSpc>
                <a:spcPct val="100000"/>
              </a:lnSpc>
              <a:buSzPct val="100000"/>
              <a:buChar char="•"/>
            </a:pPr>
            <a:r>
              <a:rPr lang="en-US" sz="1800" dirty="0">
                <a:solidFill>
                  <a:srgbClr val="000000"/>
                </a:solidFill>
                <a:latin typeface="Meiryo" pitchFamily="34" charset="0"/>
                <a:ea typeface="Meiryo" pitchFamily="34" charset="-122"/>
                <a:cs typeface="Meiryo" pitchFamily="34" charset="-120"/>
              </a:rPr>
              <a:t>npm run build を実行し、build/index.js を生成</a:t>
            </a:r>
            <a:endParaRPr lang="en-US" sz="1800" dirty="0"/>
          </a:p>
          <a:p>
            <a:pPr marL="342900" indent="-342900">
              <a:lnSpc>
                <a:spcPct val="100000"/>
              </a:lnSpc>
              <a:buSzPct val="100000"/>
              <a:buChar char="•"/>
            </a:pPr>
            <a:r>
              <a:rPr lang="en-US" sz="1800" dirty="0">
                <a:solidFill>
                  <a:srgbClr val="000000"/>
                </a:solidFill>
                <a:latin typeface="Meiryo" pitchFamily="34" charset="0"/>
                <a:ea typeface="Meiryo" pitchFamily="34" charset="-122"/>
                <a:cs typeface="Meiryo" pitchFamily="34" charset="-120"/>
              </a:rPr>
              <a:t>ステップ3：MCPクライアントへの登録</a:t>
            </a:r>
            <a:endParaRPr lang="en-US" sz="1800" dirty="0"/>
          </a:p>
          <a:p>
            <a:pPr lvl="1" marL="685800" indent="-342900">
              <a:lnSpc>
                <a:spcPct val="100000"/>
              </a:lnSpc>
              <a:buSzPct val="100000"/>
              <a:buChar char="•"/>
            </a:pPr>
            <a:r>
              <a:rPr lang="en-US" sz="1800" dirty="0">
                <a:solidFill>
                  <a:srgbClr val="000000"/>
                </a:solidFill>
                <a:latin typeface="Meiryo" pitchFamily="34" charset="0"/>
                <a:ea typeface="Meiryo" pitchFamily="34" charset="-122"/>
                <a:cs typeface="Meiryo" pitchFamily="34" charset="-120"/>
              </a:rPr>
              <a:t>claude_desktop_config.json 等の mcpServers に実行コマンドを追加</a:t>
            </a:r>
            <a:endParaRPr lang="en-US" sz="1800" dirty="0"/>
          </a:p>
          <a:p>
            <a:pPr lvl="1" marL="685800" indent="-342900">
              <a:lnSpc>
                <a:spcPct val="100000"/>
              </a:lnSpc>
              <a:buSzPct val="100000"/>
              <a:buChar char="•"/>
            </a:pPr>
            <a:r>
              <a:rPr lang="en-US" sz="1800" dirty="0">
                <a:solidFill>
                  <a:srgbClr val="000000"/>
                </a:solidFill>
                <a:latin typeface="Meiryo" pitchFamily="34" charset="0"/>
                <a:ea typeface="Meiryo" pitchFamily="34" charset="-122"/>
                <a:cs typeface="Meiryo" pitchFamily="34" charset="-120"/>
              </a:rPr>
              <a:t>例："marp-slide-mcp": { "command": "node", "args": ["&lt;path&gt;/build/index.js"] }</a:t>
            </a:r>
            <a:endParaRPr lang="en-US" sz="1800" dirty="0"/>
          </a:p>
          <a:p>
            <a:pPr marL="342900" indent="-342900">
              <a:lnSpc>
                <a:spcPct val="100000"/>
              </a:lnSpc>
              <a:buSzPct val="100000"/>
              <a:buChar char="•"/>
            </a:pPr>
            <a:endParaRPr lang="en-US" sz="1800" dirty="0"/>
          </a:p>
        </p:txBody>
      </p:sp>
      <p:sp>
        <p:nvSpPr>
          <p:cNvPr id="3" name="Text 1"/>
          <p:cNvSpPr/>
          <p:nvPr/>
        </p:nvSpPr>
        <p:spPr>
          <a:xfrm>
            <a:off x="190500" y="150837"/>
            <a:ext cx="8763000" cy="317450"/>
          </a:xfrm>
          <a:prstGeom prst="rect">
            <a:avLst/>
          </a:prstGeom>
          <a:noFill/>
          <a:ln/>
        </p:spPr>
        <p:txBody>
          <a:bodyPr wrap="square" rtlCol="0" anchor="t"/>
          <a:lstStyle/>
          <a:p>
            <a:pPr indent="0" marL="0">
              <a:buNone/>
            </a:pPr>
            <a:r>
              <a:rPr lang="en-US" sz="2000" b="1" dirty="0">
                <a:solidFill>
                  <a:srgbClr val="000000"/>
                </a:solidFill>
                <a:latin typeface="Meiryo" pitchFamily="34" charset="0"/>
                <a:ea typeface="Meiryo" pitchFamily="34" charset="-122"/>
                <a:cs typeface="Meiryo" pitchFamily="34" charset="-120"/>
              </a:rPr>
              <a:t>環境構築：GitHubクローン後のセットアップ</a:t>
            </a:r>
            <a:endParaRPr lang="en-US" sz="2000" dirty="0"/>
          </a:p>
        </p:txBody>
      </p:sp>
      <p:sp>
        <p:nvSpPr>
          <p:cNvPr id="4" name="Text 2"/>
          <p:cNvSpPr/>
          <p:nvPr/>
        </p:nvSpPr>
        <p:spPr>
          <a:xfrm>
            <a:off x="0" y="1714500"/>
            <a:ext cx="9144000" cy="297061"/>
          </a:xfrm>
          <a:prstGeom prst="rect">
            <a:avLst/>
          </a:prstGeom>
          <a:noFill/>
          <a:ln/>
        </p:spPr>
        <p:txBody>
          <a:bodyPr wrap="square" rtlCol="0" anchor="t"/>
          <a:lstStyle/>
          <a:p>
            <a:pPr algn="ctr" indent="0" marL="0">
              <a:buNone/>
            </a:pPr>
            <a:r>
              <a:rPr lang="en-US" sz="1800" b="1" dirty="0">
                <a:solidFill>
                  <a:srgbClr val="000000"/>
                </a:solidFill>
                <a:latin typeface="Meiryo" pitchFamily="34" charset="0"/>
                <a:ea typeface="Meiryo" pitchFamily="34" charset="-122"/>
                <a:cs typeface="Meiryo" pitchFamily="34" charset="-120"/>
              </a:rPr>
              <a:t>セットアップ手順とクライアント登録</a:t>
            </a:r>
            <a:endParaRPr lang="en-US" sz="1800" dirty="0"/>
          </a:p>
        </p:txBody>
      </p:sp>
      <p:sp>
        <p:nvSpPr>
          <p:cNvPr id="5" name="Text 3"/>
          <p:cNvSpPr/>
          <p:nvPr/>
        </p:nvSpPr>
        <p:spPr>
          <a:xfrm>
            <a:off x="4255740" y="6172200"/>
            <a:ext cx="4697760" cy="209550"/>
          </a:xfrm>
          <a:prstGeom prst="rect">
            <a:avLst/>
          </a:prstGeom>
          <a:noFill/>
          <a:ln/>
        </p:spPr>
        <p:txBody>
          <a:bodyPr wrap="square" rtlCol="0" anchor="t"/>
          <a:lstStyle/>
          <a:p>
            <a:pPr algn="r" indent="0" marL="0">
              <a:buNone/>
            </a:pPr>
            <a:r>
              <a:rPr lang="en-US" sz="1100" dirty="0">
                <a:solidFill>
                  <a:srgbClr val="000000"/>
                </a:solidFill>
                <a:latin typeface="Meiryo" pitchFamily="34" charset="0"/>
                <a:ea typeface="Meiryo" pitchFamily="34" charset="-122"/>
                <a:cs typeface="Meiryo" pitchFamily="34" charset="-120"/>
              </a:rPr>
              <a:t>図表出典：公式環境構築ガイド</a:t>
            </a:r>
            <a:endParaRPr lang="en-US" sz="1100" dirty="0"/>
          </a:p>
        </p:txBody>
      </p:sp>
      <p:sp>
        <p:nvSpPr>
          <p:cNvPr id="6" name="Text 4"/>
          <p:cNvSpPr/>
          <p:nvPr/>
        </p:nvSpPr>
        <p:spPr>
          <a:xfrm>
            <a:off x="190500" y="6572250"/>
            <a:ext cx="3680966" cy="171450"/>
          </a:xfrm>
          <a:prstGeom prst="rect">
            <a:avLst/>
          </a:prstGeom>
          <a:noFill/>
          <a:ln/>
        </p:spPr>
        <p:txBody>
          <a:bodyPr wrap="square" rtlCol="0" anchor="t"/>
          <a:lstStyle/>
          <a:p>
            <a:pPr algn="l" indent="0" marL="0">
              <a:buNone/>
            </a:pPr>
            <a:r>
              <a:rPr lang="en-US" sz="1100" dirty="0">
                <a:solidFill>
                  <a:srgbClr val="FFFFFF"/>
                </a:solidFill>
                <a:latin typeface="Meiryo" pitchFamily="34" charset="0"/>
                <a:ea typeface="Meiryo" pitchFamily="34" charset="-122"/>
                <a:cs typeface="Meiryo" pitchFamily="34" charset="-120"/>
              </a:rPr>
              <a:t>© 2026 N-Y-Public</a:t>
            </a:r>
            <a:endParaRPr lang="en-US" sz="1100" dirty="0"/>
          </a:p>
        </p:txBody>
      </p:sp>
      <p:sp>
        <p:nvSpPr>
          <p:cNvPr id="7" name="Text 5"/>
          <p:cNvSpPr/>
          <p:nvPr/>
        </p:nvSpPr>
        <p:spPr>
          <a:xfrm>
            <a:off x="4386858" y="6510337"/>
            <a:ext cx="4090392" cy="271463"/>
          </a:xfrm>
          <a:prstGeom prst="rect">
            <a:avLst/>
          </a:prstGeom>
          <a:noFill/>
          <a:ln/>
        </p:spPr>
        <p:txBody>
          <a:bodyPr wrap="square" rtlCol="0" anchor="t"/>
          <a:lstStyle/>
          <a:p>
            <a:pPr algn="r" indent="0" marL="0">
              <a:buNone/>
            </a:pPr>
            <a:r>
              <a:rPr lang="en-US" sz="1100" b="1" dirty="0">
                <a:solidFill>
                  <a:srgbClr val="FF0000"/>
                </a:solidFill>
                <a:latin typeface="Meiryo" pitchFamily="34" charset="0"/>
                <a:ea typeface="Meiryo" pitchFamily="34" charset="-122"/>
                <a:cs typeface="Meiryo" pitchFamily="34" charset="-120"/>
              </a:rPr>
              <a:t>CONFIDENTIAL</a:t>
            </a:r>
            <a:endParaRPr lang="en-US" sz="1100" dirty="0"/>
          </a:p>
        </p:txBody>
      </p:sp>
      <p:sp>
        <p:nvSpPr>
          <p:cNvPr id="8" name="Text 6"/>
          <p:cNvSpPr/>
          <p:nvPr/>
        </p:nvSpPr>
        <p:spPr>
          <a:xfrm>
            <a:off x="0" y="823020"/>
            <a:ext cx="9144000" cy="639961"/>
          </a:xfrm>
          <a:prstGeom prst="rect">
            <a:avLst/>
          </a:prstGeom>
          <a:noFill/>
          <a:ln/>
        </p:spPr>
        <p:txBody>
          <a:bodyPr wrap="square" rtlCol="0" anchor="ctr"/>
          <a:lstStyle/>
          <a:p>
            <a:pPr marL="342900" indent="-342900">
              <a:lnSpc>
                <a:spcPct val="100000"/>
              </a:lnSpc>
              <a:buSzPct val="100000"/>
              <a:buChar char="•"/>
            </a:pPr>
            <a:r>
              <a:rPr lang="en-US" sz="1800" dirty="0">
                <a:solidFill>
                  <a:srgbClr val="FFFFFF"/>
                </a:solidFill>
                <a:latin typeface="Meiryo" pitchFamily="34" charset="0"/>
                <a:ea typeface="Meiryo" pitchFamily="34" charset="-122"/>
                <a:cs typeface="Meiryo" pitchFamily="34" charset="-120"/>
              </a:rPr>
              <a:t>リポジトリをクローン後、依存パッケージ導入とTypeScriptビルドで準備完了</a:t>
            </a:r>
            <a:endParaRPr lang="en-US" sz="1800" dirty="0"/>
          </a:p>
          <a:p>
            <a:pPr lvl="1" marL="685800" indent="-342900">
              <a:lnSpc>
                <a:spcPct val="100000"/>
              </a:lnSpc>
              <a:buSzPct val="100000"/>
              <a:buChar char="•"/>
            </a:pPr>
            <a:r>
              <a:rPr lang="en-US" sz="1800" dirty="0">
                <a:solidFill>
                  <a:srgbClr val="FFFFFF"/>
                </a:solidFill>
                <a:latin typeface="Meiryo" pitchFamily="34" charset="0"/>
                <a:ea typeface="Meiryo" pitchFamily="34" charset="-122"/>
                <a:cs typeface="Meiryo" pitchFamily="34" charset="-120"/>
              </a:rPr>
              <a:t>Claude Desktop 等の設定ファイルに本MCPサーバーを登録して利用開始</a:t>
            </a:r>
            <a:endParaRPr lang="en-US" sz="1800" dirty="0"/>
          </a:p>
        </p:txBody>
      </p:sp>
      <p:pic>
        <p:nvPicPr>
          <p:cNvPr id="9" name="Image 0" descr="/tmp/sandbox/oss/main/slides/D01-000001_Marpの使い方/N-Y-Public_Logo.jpg">    </p:cNvPr>
          <p:cNvPicPr>
            <a:picLocks noChangeAspect="1"/>
          </p:cNvPicPr>
          <p:nvPr/>
        </p:nvPicPr>
        <p:blipFill>
          <a:blip r:embed="rId1"/>
          <a:stretch>
            <a:fillRect/>
          </a:stretch>
        </p:blipFill>
        <p:spPr>
          <a:xfrm>
            <a:off x="7048500" y="47625"/>
            <a:ext cx="1905000" cy="476250"/>
          </a:xfrm>
          <a:prstGeom prst="rect">
            <a:avLst/>
          </a:prstGeom>
        </p:spPr>
      </p:pic>
      <p:sp>
        <p:nvSpPr>
          <p:cNvPr id="25" name="Slide Number Placeholder 0"/>
          <p:cNvSpPr>
            <a:spLocks noGrp="1"/>
          </p:cNvSpPr>
          <p:nvPr>
            <p:ph type="sldNum" sz="quarter" idx="4294967295"/>
          </p:nvPr>
        </p:nvSpPr>
        <p:spPr>
          <a:xfrm>
            <a:off x="8572500" y="6583680"/>
            <a:ext cx="800000" cy="300000"/>
          </a:xfrm>
          <a:prstGeom prst="rect">
            <a:avLst/>
          </a:prstGeom>
          <a:extLst>
            <a:ext uri="{C572A759-6A51-4108-AA02-DFA0A04FC94B}">
              <ma14:wrappingTextBoxFlag xmlns:ma14="http://schemas.microsoft.com/office/mac/drawingml/2011/main" val="0"/>
            </a:ext>
          </a:extLst>
        </p:spPr>
        <p:txBody>
          <a:bodyPr/>
          <a:lstStyle>
            <a:lvl1pPr>
              <a:defRPr sz="1200">
                <a:solidFill>
                  <a:srgbClr val="FFFFFF"/>
                </a:solidFill>
              </a:defRPr>
            </a:lvl1pPr>
          </a:lstStyle>
          <a:p>
            <a:pPr algn="r"/>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nvSpPr>
        <p:spPr>
          <a:xfrm>
            <a:off x="381000" y="2190750"/>
            <a:ext cx="8382000" cy="2293144"/>
          </a:xfrm>
          <a:prstGeom prst="rect">
            <a:avLst/>
          </a:prstGeom>
          <a:noFill/>
          <a:ln/>
        </p:spPr>
        <p:txBody>
          <a:bodyPr wrap="square" rtlCol="0" anchor="t"/>
          <a:lstStyle/>
          <a:p>
            <a:pPr indent="0" marL="0">
              <a:buNone/>
            </a:pPr>
            <a:r>
              <a:rPr lang="en-US" sz="1300" dirty="0">
                <a:solidFill>
                  <a:srgbClr val="000000"/>
                </a:solidFill>
                <a:latin typeface="Meiryo" pitchFamily="34" charset="0"/>
                <a:ea typeface="Meiryo" pitchFamily="34" charset="-122"/>
                <a:cs typeface="Meiryo" pitchFamily="34" charset="-120"/>
              </a:rPr>
              <a:t>
ツール名
主要機能・役割
generate_slide_deck
規約に準拠した Marp スライドを一括新規作成
get_slide_deck
既存スライド Markdown の構造化解析・要素取得
insert_slide / update_slide
任意位置への新規スライド挿入・既存スライドの更新
delete_slide
不要になったスライドページの安全な削除
update_deck_settings
テーマカラー、画面比率、表紙バナー等の一括更新
export_to_pdf
Marp CLI を実行し、高品質な配信用 PDF を即座に出力
</a:t>
            </a:r>
            <a:endParaRPr lang="en-US" sz="1300" dirty="0"/>
          </a:p>
        </p:txBody>
      </p:sp>
      <p:sp>
        <p:nvSpPr>
          <p:cNvPr id="3" name="Text 1"/>
          <p:cNvSpPr/>
          <p:nvPr/>
        </p:nvSpPr>
        <p:spPr>
          <a:xfrm>
            <a:off x="190500" y="150837"/>
            <a:ext cx="8763000" cy="317450"/>
          </a:xfrm>
          <a:prstGeom prst="rect">
            <a:avLst/>
          </a:prstGeom>
          <a:noFill/>
          <a:ln/>
        </p:spPr>
        <p:txBody>
          <a:bodyPr wrap="square" rtlCol="0" anchor="t"/>
          <a:lstStyle/>
          <a:p>
            <a:pPr indent="0" marL="0">
              <a:buNone/>
            </a:pPr>
            <a:r>
              <a:rPr lang="en-US" sz="2000" b="1" dirty="0">
                <a:solidFill>
                  <a:srgbClr val="000000"/>
                </a:solidFill>
                <a:latin typeface="Meiryo" pitchFamily="34" charset="0"/>
                <a:ea typeface="Meiryo" pitchFamily="34" charset="-122"/>
                <a:cs typeface="Meiryo" pitchFamily="34" charset="-120"/>
              </a:rPr>
              <a:t>提供されるMCPツール一覧と機能</a:t>
            </a:r>
            <a:endParaRPr lang="en-US" sz="2000" dirty="0"/>
          </a:p>
        </p:txBody>
      </p:sp>
      <p:sp>
        <p:nvSpPr>
          <p:cNvPr id="4" name="Text 2"/>
          <p:cNvSpPr/>
          <p:nvPr/>
        </p:nvSpPr>
        <p:spPr>
          <a:xfrm>
            <a:off x="0" y="1714500"/>
            <a:ext cx="9144000" cy="297061"/>
          </a:xfrm>
          <a:prstGeom prst="rect">
            <a:avLst/>
          </a:prstGeom>
          <a:noFill/>
          <a:ln/>
        </p:spPr>
        <p:txBody>
          <a:bodyPr wrap="square" rtlCol="0" anchor="t"/>
          <a:lstStyle/>
          <a:p>
            <a:pPr algn="ctr" indent="0" marL="0">
              <a:buNone/>
            </a:pPr>
            <a:r>
              <a:rPr lang="en-US" sz="1800" b="1" dirty="0">
                <a:solidFill>
                  <a:srgbClr val="000000"/>
                </a:solidFill>
                <a:latin typeface="Meiryo" pitchFamily="34" charset="0"/>
                <a:ea typeface="Meiryo" pitchFamily="34" charset="-122"/>
                <a:cs typeface="Meiryo" pitchFamily="34" charset="-120"/>
              </a:rPr>
              <a:t>7つの主要ツール概要</a:t>
            </a:r>
            <a:endParaRPr lang="en-US" sz="1800" dirty="0"/>
          </a:p>
        </p:txBody>
      </p:sp>
      <p:sp>
        <p:nvSpPr>
          <p:cNvPr id="5" name="Text 3"/>
          <p:cNvSpPr/>
          <p:nvPr/>
        </p:nvSpPr>
        <p:spPr>
          <a:xfrm>
            <a:off x="4383881" y="6172200"/>
            <a:ext cx="4569619" cy="209550"/>
          </a:xfrm>
          <a:prstGeom prst="rect">
            <a:avLst/>
          </a:prstGeom>
          <a:noFill/>
          <a:ln/>
        </p:spPr>
        <p:txBody>
          <a:bodyPr wrap="square" rtlCol="0" anchor="t"/>
          <a:lstStyle/>
          <a:p>
            <a:pPr algn="r" indent="0" marL="0">
              <a:buNone/>
            </a:pPr>
            <a:r>
              <a:rPr lang="en-US" sz="1100" dirty="0">
                <a:solidFill>
                  <a:srgbClr val="000000"/>
                </a:solidFill>
                <a:latin typeface="Meiryo" pitchFamily="34" charset="0"/>
                <a:ea typeface="Meiryo" pitchFamily="34" charset="-122"/>
                <a:cs typeface="Meiryo" pitchFamily="34" charset="-120"/>
              </a:rPr>
              <a:t>図表出典：MCPツール仕様書</a:t>
            </a:r>
            <a:endParaRPr lang="en-US" sz="1100" dirty="0"/>
          </a:p>
        </p:txBody>
      </p:sp>
      <p:sp>
        <p:nvSpPr>
          <p:cNvPr id="6" name="Text 4"/>
          <p:cNvSpPr/>
          <p:nvPr/>
        </p:nvSpPr>
        <p:spPr>
          <a:xfrm>
            <a:off x="190500" y="6572250"/>
            <a:ext cx="3680966" cy="171450"/>
          </a:xfrm>
          <a:prstGeom prst="rect">
            <a:avLst/>
          </a:prstGeom>
          <a:noFill/>
          <a:ln/>
        </p:spPr>
        <p:txBody>
          <a:bodyPr wrap="square" rtlCol="0" anchor="t"/>
          <a:lstStyle/>
          <a:p>
            <a:pPr algn="l" indent="0" marL="0">
              <a:buNone/>
            </a:pPr>
            <a:r>
              <a:rPr lang="en-US" sz="1100" dirty="0">
                <a:solidFill>
                  <a:srgbClr val="FFFFFF"/>
                </a:solidFill>
                <a:latin typeface="Meiryo" pitchFamily="34" charset="0"/>
                <a:ea typeface="Meiryo" pitchFamily="34" charset="-122"/>
                <a:cs typeface="Meiryo" pitchFamily="34" charset="-120"/>
              </a:rPr>
              <a:t>© 2026 N-Y-Public</a:t>
            </a:r>
            <a:endParaRPr lang="en-US" sz="1100" dirty="0"/>
          </a:p>
        </p:txBody>
      </p:sp>
      <p:sp>
        <p:nvSpPr>
          <p:cNvPr id="7" name="Text 5"/>
          <p:cNvSpPr/>
          <p:nvPr/>
        </p:nvSpPr>
        <p:spPr>
          <a:xfrm>
            <a:off x="4386858" y="6510337"/>
            <a:ext cx="4090392" cy="271463"/>
          </a:xfrm>
          <a:prstGeom prst="rect">
            <a:avLst/>
          </a:prstGeom>
          <a:noFill/>
          <a:ln/>
        </p:spPr>
        <p:txBody>
          <a:bodyPr wrap="square" rtlCol="0" anchor="t"/>
          <a:lstStyle/>
          <a:p>
            <a:pPr algn="r" indent="0" marL="0">
              <a:buNone/>
            </a:pPr>
            <a:r>
              <a:rPr lang="en-US" sz="1100" b="1" dirty="0">
                <a:solidFill>
                  <a:srgbClr val="FF0000"/>
                </a:solidFill>
                <a:latin typeface="Meiryo" pitchFamily="34" charset="0"/>
                <a:ea typeface="Meiryo" pitchFamily="34" charset="-122"/>
                <a:cs typeface="Meiryo" pitchFamily="34" charset="-120"/>
              </a:rPr>
              <a:t>CONFIDENTIAL</a:t>
            </a:r>
            <a:endParaRPr lang="en-US" sz="1100" dirty="0"/>
          </a:p>
        </p:txBody>
      </p:sp>
      <p:sp>
        <p:nvSpPr>
          <p:cNvPr id="8" name="Text 6"/>
          <p:cNvSpPr/>
          <p:nvPr/>
        </p:nvSpPr>
        <p:spPr>
          <a:xfrm>
            <a:off x="0" y="823020"/>
            <a:ext cx="9144000" cy="639961"/>
          </a:xfrm>
          <a:prstGeom prst="rect">
            <a:avLst/>
          </a:prstGeom>
          <a:noFill/>
          <a:ln/>
        </p:spPr>
        <p:txBody>
          <a:bodyPr wrap="square" rtlCol="0" anchor="ctr"/>
          <a:lstStyle/>
          <a:p>
            <a:pPr marL="342900" indent="-342900">
              <a:lnSpc>
                <a:spcPct val="100000"/>
              </a:lnSpc>
              <a:buSzPct val="100000"/>
              <a:buChar char="•"/>
            </a:pPr>
            <a:r>
              <a:rPr lang="en-US" sz="1800" dirty="0">
                <a:solidFill>
                  <a:srgbClr val="FFFFFF"/>
                </a:solidFill>
                <a:latin typeface="Meiryo" pitchFamily="34" charset="0"/>
                <a:ea typeface="Meiryo" pitchFamily="34" charset="-122"/>
                <a:cs typeface="Meiryo" pitchFamily="34" charset="-120"/>
              </a:rPr>
              <a:t>スライド新規作成・編集・削除・設定変更・PDF出力まで7つのツールを提供</a:t>
            </a:r>
            <a:endParaRPr lang="en-US" sz="1800" dirty="0"/>
          </a:p>
          <a:p>
            <a:pPr lvl="1" marL="685800" indent="-342900">
              <a:lnSpc>
                <a:spcPct val="100000"/>
              </a:lnSpc>
              <a:buSzPct val="100000"/>
              <a:buChar char="•"/>
            </a:pPr>
            <a:r>
              <a:rPr lang="en-US" sz="1800" dirty="0">
                <a:solidFill>
                  <a:srgbClr val="FFFFFF"/>
                </a:solidFill>
                <a:latin typeface="Meiryo" pitchFamily="34" charset="0"/>
                <a:ea typeface="Meiryo" pitchFamily="34" charset="-122"/>
                <a:cs typeface="Meiryo" pitchFamily="34" charset="-120"/>
              </a:rPr>
              <a:t>AI が自然言語指示を適切なツール呼び出しに変換し、正確な操作を実現</a:t>
            </a:r>
            <a:endParaRPr lang="en-US" sz="1800" dirty="0"/>
          </a:p>
        </p:txBody>
      </p:sp>
      <p:pic>
        <p:nvPicPr>
          <p:cNvPr id="9" name="Image 0" descr="/tmp/sandbox/oss/main/slides/D01-000001_Marpの使い方/N-Y-Public_Logo.jpg">    </p:cNvPr>
          <p:cNvPicPr>
            <a:picLocks noChangeAspect="1"/>
          </p:cNvPicPr>
          <p:nvPr/>
        </p:nvPicPr>
        <p:blipFill>
          <a:blip r:embed="rId1"/>
          <a:stretch>
            <a:fillRect/>
          </a:stretch>
        </p:blipFill>
        <p:spPr>
          <a:xfrm>
            <a:off x="7048500" y="47625"/>
            <a:ext cx="1905000" cy="476250"/>
          </a:xfrm>
          <a:prstGeom prst="rect">
            <a:avLst/>
          </a:prstGeom>
        </p:spPr>
      </p:pic>
      <p:sp>
        <p:nvSpPr>
          <p:cNvPr id="25" name="Slide Number Placeholder 0"/>
          <p:cNvSpPr>
            <a:spLocks noGrp="1"/>
          </p:cNvSpPr>
          <p:nvPr>
            <p:ph type="sldNum" sz="quarter" idx="4294967295"/>
          </p:nvPr>
        </p:nvSpPr>
        <p:spPr>
          <a:xfrm>
            <a:off x="8572500" y="6583680"/>
            <a:ext cx="800000" cy="300000"/>
          </a:xfrm>
          <a:prstGeom prst="rect">
            <a:avLst/>
          </a:prstGeom>
          <a:extLst>
            <a:ext uri="{C572A759-6A51-4108-AA02-DFA0A04FC94B}">
              <ma14:wrappingTextBoxFlag xmlns:ma14="http://schemas.microsoft.com/office/mac/drawingml/2011/main" val="0"/>
            </a:ext>
          </a:extLst>
        </p:spPr>
        <p:txBody>
          <a:bodyPr/>
          <a:lstStyle>
            <a:lvl1pPr>
              <a:defRPr sz="1200">
                <a:solidFill>
                  <a:srgbClr val="FFFFFF"/>
                </a:solidFill>
              </a:defRPr>
            </a:lvl1pPr>
          </a:lstStyle>
          <a:p>
            <a:pPr algn="r"/>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nvSpPr>
        <p:spPr>
          <a:xfrm>
            <a:off x="381000" y="2250728"/>
            <a:ext cx="8382000" cy="4071045"/>
          </a:xfrm>
          <a:prstGeom prst="rect">
            <a:avLst/>
          </a:prstGeom>
          <a:noFill/>
          <a:ln/>
        </p:spPr>
        <p:txBody>
          <a:bodyPr wrap="square" rtlCol="0" anchor="t"/>
          <a:lstStyle/>
          <a:p>
            <a:pPr algn="ctr" indent="0" marL="0">
              <a:buNone/>
            </a:pPr>
            <a:r>
              <a:rPr lang="en-US" sz="1050" dirty="0">
                <a:solidFill>
                  <a:srgbClr val="000000"/>
                </a:solidFill>
                <a:latin typeface="Meiryo" pitchFamily="34" charset="0"/>
                <a:ea typeface="Meiryo" pitchFamily="34" charset="-122"/>
                <a:cs typeface="Meiryo" pitchFamily="34" charset="-120"/>
              </a:rPr>
              <a:t>#mermaid-1791131138606{font-family:'Meiryo','Yu Gothic',sans-serif;font-size:16px;fill:#000000;}@keyframes edge-animation-frame{from{stroke-dashoffset:0;}}@keyframes dash{to{stroke-dashoffset:0;}}#mermaid-1791131138606 .edge-animation-slow{stroke-dasharray:9,5!important;stroke-dashoffset:900;animation:dash 50s linear infinite;stroke-linecap:round;}#mermaid-1791131138606 .edge-animation-fast{stroke-dasharray:9,5!important;stroke-dashoffset:900;animation:dash 20s linear infinite;stroke-linecap:round;}#mermaid-1791131138606 .error-icon{fill:#552222;}#mermaid-1791131138606 .error-text{fill:#552222;stroke:#552222;}#mermaid-1791131138606 .edge-thickness-normal{stroke-width:1px;}#mermaid-1791131138606 .edge-thickness-thick{stroke-width:3.5px;}#mermaid-1791131138606 .edge-pattern-solid{stroke-dasharray:0;}#mermaid-1791131138606 .edge-thickness-invisible{stroke-width:0;fill:none;}#mermaid-1791131138606 .edge-pattern-dashed{stroke-dasharray:3;}#mermaid-1791131138606 .edge-pattern-dotted{stroke-dasharray:2;}#mermaid-1791131138606 .marker{fill:#666;stroke:#666;}#mermaid-1791131138606 .marker.cross{stroke:#666;}#mermaid-1791131138606 svg{font-family:'Meiryo','Yu Gothic',sans-serif;font-size:16px;}#mermaid-1791131138606 p{margin:0;}#mermaid-1791131138606 .label{font-family:'Meiryo','Yu Gothic',sans-serif;color:#000000;}#mermaid-1791131138606 .cluster-label text{fill:#333;}#mermaid-1791131138606 .cluster-label span{color:#333;}#mermaid-1791131138606 .cluster-label span p{background-color:transparent;}#mermaid-1791131138606 .label text,#mermaid-1791131138606 span{fill:#000000;color:#000000;}#mermaid-1791131138606 .node rect,#mermaid-1791131138606 .node circle,#mermaid-1791131138606 .node ellipse,#mermaid-1791131138606 .node polygon,#mermaid-1791131138606 .node path{fill:#eee;stroke:#999;stroke-width:1px;}#mermaid-1791131138606 .rough-node .label text,#mermaid-1791131138606 .node .label text,#mermaid-1791131138606 .image-shape .label,#mermaid-1791131138606 .icon-shape .label{text-anchor:middle;}#mermaid-1791131138606 .node .katex path{fill:#000;stroke:#000;stroke-width:1px;}#mermaid-1791131138606 .rough-node .label,#mermaid-1791131138606 .node .label,#mermaid-1791131138606 .image-shape .label,#mermaid-1791131138606 .icon-shape .label{text-align:center;}#mermaid-1791131138606 .node.clickable{cursor:pointer;}#mermaid-1791131138606 .root .anchor path{fill:#666!important;stroke-width:0;stroke:#666;}#mermaid-1791131138606 .arrowheadPath{fill:#333333;}#mermaid-1791131138606 .edgePath .path{stroke:#666;stroke-width:1px;}#mermaid-1791131138606 .flowchart-link{stroke:#666;fill:none;}#mermaid-1791131138606 .edgeLabel{background-color:white;text-align:center;}#mermaid-1791131138606 .edgeLabel p{background-color:white;}#mermaid-1791131138606 .edgeLabel rect{opacity:0.5;background-color:white;fill:white;}#mermaid-1791131138606 .labelBkg{background-color:rgba(255, 255, 255, 0.5);}#mermaid-1791131138606 .cluster rect{fill:hsl(0, 0%, 98.9215686275%);stroke:#707070;stroke-width:1px;}#mermaid-1791131138606 .cluster text{fill:#333;}#mermaid-1791131138606 .cluster span{color:#333;}#mermaid-1791131138606 div.mermaidTooltip{position:absolute;text-align:center;max-width:200px;padding:2px;font-family:'Meiryo','Yu Gothic',sans-serif;font-size:12px;background:hsl(-160, 0%, 93.3333333333%);border:1px solid #707070;border-radius:2px;pointer-events:none;z-index:100;}#mermaid-1791131138606 .flowchartTitleText{text-anchor:middle;font-size:18px;fill:#000000;}#mermaid-1791131138606 rect.text{fill:none;stroke-width:0;}#mermaid-1791131138606 .icon-shape,#mermaid-1791131138606 .image-shape{background-color:white;text-align:center;}#mermaid-1791131138606 .icon-shape p,#mermaid-1791131138606 .image-shape p{background-color:white;padding:2px;}#mermaid-1791131138606 .icon-shape .label rect,#mermaid-1791131138606 .image-shape .label rect{opacity:0.5;background-color:white;fill:white;}#mermaid-1791131138606 .label-icon{display:inline-block;height:1em;overflow:visible;vertical-align:-0.125em;}#mermaid-1791131138606 .node .label-icon path{fill:currentColor;stroke:revert;stroke-width:revert;}#mermaid-1791131138606 .node .neo-node{stroke:#999;}#mermaid-1791131138606 [data-look="neo"].node rect,#mermaid-1791131138606 [data-look="neo"].cluster rect,#mermaid-1791131138606 [data-look="neo"].node polygon{stroke:url(#mermaid-1791131138606-gradient);filter:drop-shadow( 1px 2px 2px rgba(185,185,185,1));}#mermaid-1791131138606 [data-look="neo"].swimlane.cluster rect{filter:none;}#mermaid-1791131138606 [data-look="neo"].node path{stroke:url(#mermaid-1791131138606-gradient);stroke-width:1px;}#mermaid-1791131138606 [data-look="neo"].node .outer-path{filter:drop-shadow( 1px 2px 2px rgba(185,185,185,1));}#mermaid-1791131138606 [data-look="neo"].node .neo-line path{stroke:#999;filter:none;}#mermaid-1791131138606 [data-look="neo"].node circle{stroke:url(#mermaid-1791131138606-gradient);filter:drop-shadow( 1px 2px 2px rgba(185,185,185,1));}#mermaid-1791131138606 [data-look="neo"].node circle .state-start{fill:#000000;}#mermaid-1791131138606 [data-look="neo"].icon-shape .icon{fill:url(#mermaid-1791131138606-gradient);filter:drop-shadow( 1px 2px 2px rgba(185,185,185,1));}#mermaid-1791131138606 [data-look="neo"].icon-shape .icon-neo path{stroke:url(#mermaid-1791131138606-gradient);filter:drop-shadow( 1px 2px 2px rgba(185,185,185,1));}#mermaid-1791131138606 :root{--mermaid-font-family:'Meiryo','Yu Gothic',sans-serif;}プロンプトツール呼出Markdown生成PDF自動出力ユーザー自然言語指示AIアシスタントClaude / CursorMarp MCPサーバーmarp-slide-mcpスライドMarkdownslides/*.md完成PDF資料slides/*.pdf</a:t>
            </a:r>
            <a:endParaRPr lang="en-US" sz="1050" dirty="0"/>
          </a:p>
        </p:txBody>
      </p:sp>
      <p:sp>
        <p:nvSpPr>
          <p:cNvPr id="3" name="Text 1"/>
          <p:cNvSpPr/>
          <p:nvPr/>
        </p:nvSpPr>
        <p:spPr>
          <a:xfrm>
            <a:off x="190500" y="150837"/>
            <a:ext cx="8763000" cy="317450"/>
          </a:xfrm>
          <a:prstGeom prst="rect">
            <a:avLst/>
          </a:prstGeom>
          <a:noFill/>
          <a:ln/>
        </p:spPr>
        <p:txBody>
          <a:bodyPr wrap="square" rtlCol="0" anchor="t"/>
          <a:lstStyle/>
          <a:p>
            <a:pPr indent="0" marL="0">
              <a:buNone/>
            </a:pPr>
            <a:r>
              <a:rPr lang="en-US" sz="2000" b="1" dirty="0">
                <a:solidFill>
                  <a:srgbClr val="000000"/>
                </a:solidFill>
                <a:latin typeface="Meiryo" pitchFamily="34" charset="0"/>
                <a:ea typeface="Meiryo" pitchFamily="34" charset="-122"/>
                <a:cs typeface="Meiryo" pitchFamily="34" charset="-120"/>
              </a:rPr>
              <a:t>MCPサーバーの利用フローとAI連携</a:t>
            </a:r>
            <a:endParaRPr lang="en-US" sz="2000" dirty="0"/>
          </a:p>
        </p:txBody>
      </p:sp>
      <p:sp>
        <p:nvSpPr>
          <p:cNvPr id="4" name="Text 2"/>
          <p:cNvSpPr/>
          <p:nvPr/>
        </p:nvSpPr>
        <p:spPr>
          <a:xfrm>
            <a:off x="0" y="1714500"/>
            <a:ext cx="9144000" cy="297061"/>
          </a:xfrm>
          <a:prstGeom prst="rect">
            <a:avLst/>
          </a:prstGeom>
          <a:noFill/>
          <a:ln/>
        </p:spPr>
        <p:txBody>
          <a:bodyPr wrap="square" rtlCol="0" anchor="t"/>
          <a:lstStyle/>
          <a:p>
            <a:pPr algn="ctr" indent="0" marL="0">
              <a:buNone/>
            </a:pPr>
            <a:r>
              <a:rPr lang="en-US" sz="1800" b="1" dirty="0">
                <a:solidFill>
                  <a:srgbClr val="000000"/>
                </a:solidFill>
                <a:latin typeface="Meiryo" pitchFamily="34" charset="0"/>
                <a:ea typeface="Meiryo" pitchFamily="34" charset="-122"/>
                <a:cs typeface="Meiryo" pitchFamily="34" charset="-120"/>
              </a:rPr>
              <a:t>AI と MCP サーバーの対話連携アーキテクチャ</a:t>
            </a:r>
            <a:endParaRPr lang="en-US" sz="1800" dirty="0"/>
          </a:p>
        </p:txBody>
      </p:sp>
      <p:sp>
        <p:nvSpPr>
          <p:cNvPr id="5" name="Text 3"/>
          <p:cNvSpPr/>
          <p:nvPr/>
        </p:nvSpPr>
        <p:spPr>
          <a:xfrm>
            <a:off x="3990380" y="6172200"/>
            <a:ext cx="4963120" cy="209550"/>
          </a:xfrm>
          <a:prstGeom prst="rect">
            <a:avLst/>
          </a:prstGeom>
          <a:noFill/>
          <a:ln/>
        </p:spPr>
        <p:txBody>
          <a:bodyPr wrap="square" rtlCol="0" anchor="t"/>
          <a:lstStyle/>
          <a:p>
            <a:pPr algn="r" indent="0" marL="0">
              <a:buNone/>
            </a:pPr>
            <a:r>
              <a:rPr lang="en-US" sz="1100" dirty="0">
                <a:solidFill>
                  <a:srgbClr val="000000"/>
                </a:solidFill>
                <a:latin typeface="Meiryo" pitchFamily="34" charset="0"/>
                <a:ea typeface="Meiryo" pitchFamily="34" charset="-122"/>
                <a:cs typeface="Meiryo" pitchFamily="34" charset="-120"/>
              </a:rPr>
              <a:t>図表出典：AI連携ワークフロー設計</a:t>
            </a:r>
            <a:endParaRPr lang="en-US" sz="1100" dirty="0"/>
          </a:p>
        </p:txBody>
      </p:sp>
      <p:sp>
        <p:nvSpPr>
          <p:cNvPr id="6" name="Text 4"/>
          <p:cNvSpPr/>
          <p:nvPr/>
        </p:nvSpPr>
        <p:spPr>
          <a:xfrm>
            <a:off x="190500" y="6572250"/>
            <a:ext cx="3680966" cy="171450"/>
          </a:xfrm>
          <a:prstGeom prst="rect">
            <a:avLst/>
          </a:prstGeom>
          <a:noFill/>
          <a:ln/>
        </p:spPr>
        <p:txBody>
          <a:bodyPr wrap="square" rtlCol="0" anchor="t"/>
          <a:lstStyle/>
          <a:p>
            <a:pPr algn="l" indent="0" marL="0">
              <a:buNone/>
            </a:pPr>
            <a:r>
              <a:rPr lang="en-US" sz="1100" dirty="0">
                <a:solidFill>
                  <a:srgbClr val="FFFFFF"/>
                </a:solidFill>
                <a:latin typeface="Meiryo" pitchFamily="34" charset="0"/>
                <a:ea typeface="Meiryo" pitchFamily="34" charset="-122"/>
                <a:cs typeface="Meiryo" pitchFamily="34" charset="-120"/>
              </a:rPr>
              <a:t>© 2026 N-Y-Public</a:t>
            </a:r>
            <a:endParaRPr lang="en-US" sz="1100" dirty="0"/>
          </a:p>
        </p:txBody>
      </p:sp>
      <p:sp>
        <p:nvSpPr>
          <p:cNvPr id="7" name="Text 5"/>
          <p:cNvSpPr/>
          <p:nvPr/>
        </p:nvSpPr>
        <p:spPr>
          <a:xfrm>
            <a:off x="4386858" y="6510337"/>
            <a:ext cx="4090392" cy="271463"/>
          </a:xfrm>
          <a:prstGeom prst="rect">
            <a:avLst/>
          </a:prstGeom>
          <a:noFill/>
          <a:ln/>
        </p:spPr>
        <p:txBody>
          <a:bodyPr wrap="square" rtlCol="0" anchor="t"/>
          <a:lstStyle/>
          <a:p>
            <a:pPr algn="r" indent="0" marL="0">
              <a:buNone/>
            </a:pPr>
            <a:r>
              <a:rPr lang="en-US" sz="1100" b="1" dirty="0">
                <a:solidFill>
                  <a:srgbClr val="FF0000"/>
                </a:solidFill>
                <a:latin typeface="Meiryo" pitchFamily="34" charset="0"/>
                <a:ea typeface="Meiryo" pitchFamily="34" charset="-122"/>
                <a:cs typeface="Meiryo" pitchFamily="34" charset="-120"/>
              </a:rPr>
              <a:t>CONFIDENTIAL</a:t>
            </a:r>
            <a:endParaRPr lang="en-US" sz="1100" dirty="0"/>
          </a:p>
        </p:txBody>
      </p:sp>
      <p:sp>
        <p:nvSpPr>
          <p:cNvPr id="8" name="Text 6"/>
          <p:cNvSpPr/>
          <p:nvPr/>
        </p:nvSpPr>
        <p:spPr>
          <a:xfrm>
            <a:off x="0" y="823020"/>
            <a:ext cx="9144000" cy="639961"/>
          </a:xfrm>
          <a:prstGeom prst="rect">
            <a:avLst/>
          </a:prstGeom>
          <a:noFill/>
          <a:ln/>
        </p:spPr>
        <p:txBody>
          <a:bodyPr wrap="square" rtlCol="0" anchor="ctr"/>
          <a:lstStyle/>
          <a:p>
            <a:pPr marL="342900" indent="-342900">
              <a:lnSpc>
                <a:spcPct val="100000"/>
              </a:lnSpc>
              <a:buSzPct val="100000"/>
              <a:buChar char="•"/>
            </a:pPr>
            <a:r>
              <a:rPr lang="en-US" sz="1800" dirty="0">
                <a:solidFill>
                  <a:srgbClr val="FFFFFF"/>
                </a:solidFill>
                <a:latin typeface="Meiryo" pitchFamily="34" charset="0"/>
                <a:ea typeface="Meiryo" pitchFamily="34" charset="-122"/>
                <a:cs typeface="Meiryo" pitchFamily="34" charset="-120"/>
              </a:rPr>
              <a:t>自然言語で AI に要望を伝えるだけで、スライド生成からPDF出力まで自動完結</a:t>
            </a:r>
            <a:endParaRPr lang="en-US" sz="1800" dirty="0"/>
          </a:p>
          <a:p>
            <a:pPr lvl="1" marL="685800" indent="-342900">
              <a:lnSpc>
                <a:spcPct val="100000"/>
              </a:lnSpc>
              <a:buSzPct val="100000"/>
              <a:buChar char="•"/>
            </a:pPr>
            <a:r>
              <a:rPr lang="en-US" sz="1800" dirty="0">
                <a:solidFill>
                  <a:srgbClr val="FFFFFF"/>
                </a:solidFill>
                <a:latin typeface="Meiryo" pitchFamily="34" charset="0"/>
                <a:ea typeface="Meiryo" pitchFamily="34" charset="-122"/>
                <a:cs typeface="Meiryo" pitchFamily="34" charset="-120"/>
              </a:rPr>
              <a:t>AI がプロンプト規約に基づき自律連携し、高品質なスライドを自動構築</a:t>
            </a:r>
            <a:endParaRPr lang="en-US" sz="1800" dirty="0"/>
          </a:p>
        </p:txBody>
      </p:sp>
      <p:pic>
        <p:nvPicPr>
          <p:cNvPr id="9" name="Image 0" descr="/tmp/sandbox/oss/main/slides/D01-000001_Marpの使い方/N-Y-Public_Logo.jpg">    </p:cNvPr>
          <p:cNvPicPr>
            <a:picLocks noChangeAspect="1"/>
          </p:cNvPicPr>
          <p:nvPr/>
        </p:nvPicPr>
        <p:blipFill>
          <a:blip r:embed="rId1"/>
          <a:stretch>
            <a:fillRect/>
          </a:stretch>
        </p:blipFill>
        <p:spPr>
          <a:xfrm>
            <a:off x="7048500" y="47625"/>
            <a:ext cx="1905000" cy="476250"/>
          </a:xfrm>
          <a:prstGeom prst="rect">
            <a:avLst/>
          </a:prstGeom>
        </p:spPr>
      </p:pic>
      <p:sp>
        <p:nvSpPr>
          <p:cNvPr id="25" name="Slide Number Placeholder 0"/>
          <p:cNvSpPr>
            <a:spLocks noGrp="1"/>
          </p:cNvSpPr>
          <p:nvPr>
            <p:ph type="sldNum" sz="quarter" idx="4294967295"/>
          </p:nvPr>
        </p:nvSpPr>
        <p:spPr>
          <a:xfrm>
            <a:off x="8572500" y="6583680"/>
            <a:ext cx="800000" cy="300000"/>
          </a:xfrm>
          <a:prstGeom prst="rect">
            <a:avLst/>
          </a:prstGeom>
          <a:extLst>
            <a:ext uri="{C572A759-6A51-4108-AA02-DFA0A04FC94B}">
              <ma14:wrappingTextBoxFlag xmlns:ma14="http://schemas.microsoft.com/office/mac/drawingml/2011/main" val="0"/>
            </a:ext>
          </a:extLst>
        </p:spPr>
        <p:txBody>
          <a:bodyPr/>
          <a:lstStyle>
            <a:lvl1pPr>
              <a:defRPr sz="1200">
                <a:solidFill>
                  <a:srgbClr val="FFFFFF"/>
                </a:solidFill>
              </a:defRPr>
            </a:lvl1pPr>
          </a:lstStyle>
          <a:p>
            <a:pPr algn="r"/>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nvSpPr>
        <p:spPr>
          <a:xfrm>
            <a:off x="381000" y="2190750"/>
            <a:ext cx="8382000" cy="2057102"/>
          </a:xfrm>
          <a:prstGeom prst="rect">
            <a:avLst/>
          </a:prstGeom>
          <a:noFill/>
          <a:ln/>
        </p:spPr>
        <p:txBody>
          <a:bodyPr wrap="square" rtlCol="0" anchor="t"/>
          <a:lstStyle/>
          <a:p>
            <a:pPr indent="0" marL="0">
              <a:buNone/>
            </a:pPr>
            <a:r>
              <a:rPr lang="en-US" sz="1170" dirty="0">
                <a:solidFill>
                  <a:srgbClr val="000000"/>
                </a:solidFill>
                <a:latin typeface="Meiryo" pitchFamily="34" charset="0"/>
                <a:ea typeface="Meiryo" pitchFamily="34" charset="-122"/>
                <a:cs typeface="Meiryo" pitchFamily="34" charset="-120"/>
              </a:rPr>
              <a:t>
成果物 / 配置
ファイル形式・配置場所
内容と用途
資料専用フォルダ
slides/&lt;資料名&gt;/
各プレゼンテーションごとに1つ作成される専用ディレクトリ
スライドMarkdown
slides/&lt;資料名&gt;/&lt;資料名&gt;.md
MCPツールや手動で作成・編集する原本
PDF 成果物
slides/&lt;資料名&gt;/&lt;資料名&gt;.pdf
export_to_pdf や Marp CLI で自動出力された配信用
PPTX 成果物
slides/&lt;資料名&gt;/&lt;資料名&gt;.pptx
build:pptx-custom により図形・テキスト変換された編集用
画像アセット
slides/&lt;資料名&gt;/banner.svg 等
個別資料で使用する表紙バナーやヘッダーロゴ等の配置領域
</a:t>
            </a:r>
            <a:endParaRPr lang="en-US" sz="1170" dirty="0"/>
          </a:p>
        </p:txBody>
      </p:sp>
      <p:sp>
        <p:nvSpPr>
          <p:cNvPr id="3" name="Text 1"/>
          <p:cNvSpPr/>
          <p:nvPr/>
        </p:nvSpPr>
        <p:spPr>
          <a:xfrm>
            <a:off x="383857" y="4377333"/>
            <a:ext cx="8379142" cy="626566"/>
          </a:xfrm>
          <a:prstGeom prst="rect">
            <a:avLst/>
          </a:prstGeom>
          <a:noFill/>
          <a:ln/>
        </p:spPr>
        <p:txBody>
          <a:bodyPr wrap="square" rtlCol="0" anchor="t"/>
          <a:lstStyle/>
          <a:p>
            <a:pPr marL="342900" indent="-342900">
              <a:lnSpc>
                <a:spcPct val="100000"/>
              </a:lnSpc>
              <a:buSzPct val="100000"/>
              <a:buChar char="•"/>
            </a:pPr>
            <a:r>
              <a:rPr lang="en-US" sz="1620" dirty="0">
                <a:solidFill>
                  <a:srgbClr val="000000"/>
                </a:solidFill>
                <a:latin typeface="Meiryo" pitchFamily="34" charset="0"/>
                <a:ea typeface="Meiryo" pitchFamily="34" charset="-122"/>
                <a:cs typeface="Meiryo" pitchFamily="34" charset="-120"/>
              </a:rPr>
              <a:t>※ テーマ（themes/）や共通リソース（../../themes/）を参照し、資料ごとに自己完結した管理が可能です</a:t>
            </a:r>
            <a:endParaRPr lang="en-US" sz="1620" dirty="0"/>
          </a:p>
          <a:p>
            <a:pPr marL="342900" indent="-342900">
              <a:lnSpc>
                <a:spcPct val="100000"/>
              </a:lnSpc>
              <a:buSzPct val="100000"/>
              <a:buChar char="•"/>
            </a:pPr>
            <a:endParaRPr lang="en-US" sz="1620" dirty="0"/>
          </a:p>
        </p:txBody>
      </p:sp>
      <p:sp>
        <p:nvSpPr>
          <p:cNvPr id="4" name="Text 2"/>
          <p:cNvSpPr/>
          <p:nvPr/>
        </p:nvSpPr>
        <p:spPr>
          <a:xfrm>
            <a:off x="190500" y="150837"/>
            <a:ext cx="8763000" cy="317450"/>
          </a:xfrm>
          <a:prstGeom prst="rect">
            <a:avLst/>
          </a:prstGeom>
          <a:noFill/>
          <a:ln/>
        </p:spPr>
        <p:txBody>
          <a:bodyPr wrap="square" rtlCol="0" anchor="t"/>
          <a:lstStyle/>
          <a:p>
            <a:pPr indent="0" marL="0">
              <a:buNone/>
            </a:pPr>
            <a:r>
              <a:rPr lang="en-US" sz="2000" b="1" dirty="0">
                <a:solidFill>
                  <a:srgbClr val="000000"/>
                </a:solidFill>
                <a:latin typeface="Meiryo" pitchFamily="34" charset="0"/>
                <a:ea typeface="Meiryo" pitchFamily="34" charset="-122"/>
                <a:cs typeface="Meiryo" pitchFamily="34" charset="-120"/>
              </a:rPr>
              <a:t>成果物の出力先と資料別ディレクトリ構造</a:t>
            </a:r>
            <a:endParaRPr lang="en-US" sz="2000" dirty="0"/>
          </a:p>
        </p:txBody>
      </p:sp>
      <p:sp>
        <p:nvSpPr>
          <p:cNvPr id="5" name="Text 3"/>
          <p:cNvSpPr/>
          <p:nvPr/>
        </p:nvSpPr>
        <p:spPr>
          <a:xfrm>
            <a:off x="0" y="1714500"/>
            <a:ext cx="9144000" cy="297061"/>
          </a:xfrm>
          <a:prstGeom prst="rect">
            <a:avLst/>
          </a:prstGeom>
          <a:noFill/>
          <a:ln/>
        </p:spPr>
        <p:txBody>
          <a:bodyPr wrap="square" rtlCol="0" anchor="t"/>
          <a:lstStyle/>
          <a:p>
            <a:pPr algn="ctr" indent="0" marL="0">
              <a:buNone/>
            </a:pPr>
            <a:r>
              <a:rPr lang="en-US" sz="1800" b="1" dirty="0">
                <a:solidFill>
                  <a:srgbClr val="000000"/>
                </a:solidFill>
                <a:latin typeface="Meiryo" pitchFamily="34" charset="0"/>
                <a:ea typeface="Meiryo" pitchFamily="34" charset="-122"/>
                <a:cs typeface="Meiryo" pitchFamily="34" charset="-120"/>
              </a:rPr>
              <a:t>資料専用ディレクトリ（slides/&lt;資料名&gt;/）と生成アーティファクト</a:t>
            </a:r>
            <a:endParaRPr lang="en-US" sz="1800" dirty="0"/>
          </a:p>
        </p:txBody>
      </p:sp>
      <p:sp>
        <p:nvSpPr>
          <p:cNvPr id="6" name="Text 4"/>
          <p:cNvSpPr/>
          <p:nvPr/>
        </p:nvSpPr>
        <p:spPr>
          <a:xfrm>
            <a:off x="2311152" y="6172200"/>
            <a:ext cx="6642348" cy="209550"/>
          </a:xfrm>
          <a:prstGeom prst="rect">
            <a:avLst/>
          </a:prstGeom>
          <a:noFill/>
          <a:ln/>
        </p:spPr>
        <p:txBody>
          <a:bodyPr wrap="square" rtlCol="0" anchor="t"/>
          <a:lstStyle/>
          <a:p>
            <a:pPr algn="r" indent="0" marL="0">
              <a:buNone/>
            </a:pPr>
            <a:r>
              <a:rPr lang="en-US" sz="1100" dirty="0">
                <a:solidFill>
                  <a:srgbClr val="000000"/>
                </a:solidFill>
                <a:latin typeface="Meiryo" pitchFamily="34" charset="0"/>
                <a:ea typeface="Meiryo" pitchFamily="34" charset="-122"/>
                <a:cs typeface="Meiryo" pitchFamily="34" charset="-120"/>
              </a:rPr>
              <a:t>図表出典：リポジトリ構成仕様（資料専用ディレクトリ設計）</a:t>
            </a:r>
            <a:endParaRPr lang="en-US" sz="1100" dirty="0"/>
          </a:p>
        </p:txBody>
      </p:sp>
      <p:sp>
        <p:nvSpPr>
          <p:cNvPr id="7" name="Text 5"/>
          <p:cNvSpPr/>
          <p:nvPr/>
        </p:nvSpPr>
        <p:spPr>
          <a:xfrm>
            <a:off x="190500" y="6572250"/>
            <a:ext cx="3680966" cy="171450"/>
          </a:xfrm>
          <a:prstGeom prst="rect">
            <a:avLst/>
          </a:prstGeom>
          <a:noFill/>
          <a:ln/>
        </p:spPr>
        <p:txBody>
          <a:bodyPr wrap="square" rtlCol="0" anchor="t"/>
          <a:lstStyle/>
          <a:p>
            <a:pPr algn="l" indent="0" marL="0">
              <a:buNone/>
            </a:pPr>
            <a:r>
              <a:rPr lang="en-US" sz="1100" dirty="0">
                <a:solidFill>
                  <a:srgbClr val="FFFFFF"/>
                </a:solidFill>
                <a:latin typeface="Meiryo" pitchFamily="34" charset="0"/>
                <a:ea typeface="Meiryo" pitchFamily="34" charset="-122"/>
                <a:cs typeface="Meiryo" pitchFamily="34" charset="-120"/>
              </a:rPr>
              <a:t>© 2026 N-Y-Public</a:t>
            </a:r>
            <a:endParaRPr lang="en-US" sz="1100" dirty="0"/>
          </a:p>
        </p:txBody>
      </p:sp>
      <p:sp>
        <p:nvSpPr>
          <p:cNvPr id="8" name="Text 6"/>
          <p:cNvSpPr/>
          <p:nvPr/>
        </p:nvSpPr>
        <p:spPr>
          <a:xfrm>
            <a:off x="4386858" y="6510337"/>
            <a:ext cx="4090392" cy="271463"/>
          </a:xfrm>
          <a:prstGeom prst="rect">
            <a:avLst/>
          </a:prstGeom>
          <a:noFill/>
          <a:ln/>
        </p:spPr>
        <p:txBody>
          <a:bodyPr wrap="square" rtlCol="0" anchor="t"/>
          <a:lstStyle/>
          <a:p>
            <a:pPr algn="r" indent="0" marL="0">
              <a:buNone/>
            </a:pPr>
            <a:r>
              <a:rPr lang="en-US" sz="1100" b="1" dirty="0">
                <a:solidFill>
                  <a:srgbClr val="FF0000"/>
                </a:solidFill>
                <a:latin typeface="Meiryo" pitchFamily="34" charset="0"/>
                <a:ea typeface="Meiryo" pitchFamily="34" charset="-122"/>
                <a:cs typeface="Meiryo" pitchFamily="34" charset="-120"/>
              </a:rPr>
              <a:t>CONFIDENTIAL</a:t>
            </a:r>
            <a:endParaRPr lang="en-US" sz="1100" dirty="0"/>
          </a:p>
        </p:txBody>
      </p:sp>
      <p:sp>
        <p:nvSpPr>
          <p:cNvPr id="9" name="Text 7"/>
          <p:cNvSpPr/>
          <p:nvPr/>
        </p:nvSpPr>
        <p:spPr>
          <a:xfrm>
            <a:off x="0" y="666750"/>
            <a:ext cx="9144000" cy="952500"/>
          </a:xfrm>
          <a:prstGeom prst="rect">
            <a:avLst/>
          </a:prstGeom>
          <a:noFill/>
          <a:ln/>
        </p:spPr>
        <p:txBody>
          <a:bodyPr wrap="square" rtlCol="0" anchor="ctr"/>
          <a:lstStyle/>
          <a:p>
            <a:pPr marL="342900" indent="-342900">
              <a:lnSpc>
                <a:spcPct val="100000"/>
              </a:lnSpc>
              <a:buSzPct val="100000"/>
              <a:buChar char="•"/>
            </a:pPr>
            <a:r>
              <a:rPr lang="en-US" sz="1800" dirty="0">
                <a:solidFill>
                  <a:srgbClr val="FFFFFF"/>
                </a:solidFill>
                <a:latin typeface="Meiryo" pitchFamily="34" charset="0"/>
                <a:ea typeface="Meiryo" pitchFamily="34" charset="-122"/>
                <a:cs typeface="Meiryo" pitchFamily="34" charset="-120"/>
              </a:rPr>
              <a:t>各スライド資料は slides/ 配下に専用ディレクトリを作成して独立管理</a:t>
            </a:r>
            <a:endParaRPr lang="en-US" sz="1800" dirty="0"/>
          </a:p>
          <a:p>
            <a:pPr lvl="1" marL="685800" indent="-342900">
              <a:lnSpc>
                <a:spcPct val="100000"/>
              </a:lnSpc>
              <a:buSzPct val="100000"/>
              <a:buChar char="•"/>
            </a:pPr>
            <a:r>
              <a:rPr lang="en-US" sz="1800" dirty="0">
                <a:solidFill>
                  <a:srgbClr val="FFFFFF"/>
                </a:solidFill>
                <a:latin typeface="Meiryo" pitchFamily="34" charset="0"/>
                <a:ea typeface="Meiryo" pitchFamily="34" charset="-122"/>
                <a:cs typeface="Meiryo" pitchFamily="34" charset="-120"/>
              </a:rPr>
              <a:t>Markdown・PDF・PPTX・個別画像アセットが同一フォルダ内にまとまり保守性向上</a:t>
            </a:r>
            <a:endParaRPr lang="en-US" sz="1800" dirty="0"/>
          </a:p>
        </p:txBody>
      </p:sp>
      <p:pic>
        <p:nvPicPr>
          <p:cNvPr id="10" name="Image 0" descr="/tmp/sandbox/oss/main/slides/D01-000001_Marpの使い方/N-Y-Public_Logo.jpg">    </p:cNvPr>
          <p:cNvPicPr>
            <a:picLocks noChangeAspect="1"/>
          </p:cNvPicPr>
          <p:nvPr/>
        </p:nvPicPr>
        <p:blipFill>
          <a:blip r:embed="rId1"/>
          <a:stretch>
            <a:fillRect/>
          </a:stretch>
        </p:blipFill>
        <p:spPr>
          <a:xfrm>
            <a:off x="7048500" y="47625"/>
            <a:ext cx="1905000" cy="476250"/>
          </a:xfrm>
          <a:prstGeom prst="rect">
            <a:avLst/>
          </a:prstGeom>
        </p:spPr>
      </p:pic>
      <p:sp>
        <p:nvSpPr>
          <p:cNvPr id="25" name="Slide Number Placeholder 0"/>
          <p:cNvSpPr>
            <a:spLocks noGrp="1"/>
          </p:cNvSpPr>
          <p:nvPr>
            <p:ph type="sldNum" sz="quarter" idx="4294967295"/>
          </p:nvPr>
        </p:nvSpPr>
        <p:spPr>
          <a:xfrm>
            <a:off x="8572500" y="6583680"/>
            <a:ext cx="800000" cy="300000"/>
          </a:xfrm>
          <a:prstGeom prst="rect">
            <a:avLst/>
          </a:prstGeom>
          <a:extLst>
            <a:ext uri="{C572A759-6A51-4108-AA02-DFA0A04FC94B}">
              <ma14:wrappingTextBoxFlag xmlns:ma14="http://schemas.microsoft.com/office/mac/drawingml/2011/main" val="0"/>
            </a:ext>
          </a:extLst>
        </p:spPr>
        <p:txBody>
          <a:bodyPr/>
          <a:lstStyle>
            <a:lvl1pPr>
              <a:defRPr sz="1200">
                <a:solidFill>
                  <a:srgbClr val="FFFFFF"/>
                </a:solidFill>
              </a:defRPr>
            </a:lvl1pPr>
          </a:lstStyle>
          <a:p>
            <a:pPr algn="r"/>
            <a:fld id="{F7021451-1387-4CA6-816F-3879F97B5CBC}" type="slidenum">
              <a:rPr b="0"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p:nvPr/>
        </p:nvSpPr>
        <p:spPr>
          <a:xfrm>
            <a:off x="381000" y="2190750"/>
            <a:ext cx="8382000" cy="2131665"/>
          </a:xfrm>
          <a:prstGeom prst="rect">
            <a:avLst/>
          </a:prstGeom>
          <a:noFill/>
          <a:ln/>
        </p:spPr>
        <p:txBody>
          <a:bodyPr wrap="square" rtlCol="0" anchor="t"/>
          <a:lstStyle/>
          <a:p>
            <a:pPr indent="0" marL="0">
              <a:buNone/>
            </a:pPr>
            <a:r>
              <a:rPr lang="en-US" sz="1170" dirty="0">
                <a:solidFill>
                  <a:srgbClr val="000000"/>
                </a:solidFill>
                <a:latin typeface="Meiryo" pitchFamily="34" charset="0"/>
                <a:ea typeface="Meiryo" pitchFamily="34" charset="-122"/>
                <a:cs typeface="Meiryo" pitchFamily="34" charset="-120"/>
              </a:rPr>
              <a:t>
要素名 (プロパティ)
上限文字数 / 形式
役割・表示領域と適用ルール
pageTitle
60文字以内
スライド左上の大見出し（1〜2行で簡潔に表現）
claim
250文字以内
上部グレー帯の主要メッセージ（箇条書き3〜5行）
chartTitle
60文字以内
本文領域直上の小見出し・セクション名
bodyContent
1,500文字以内
Markdown本文、表、Mermaid図、コード等
twoColumns
左右各1,500文字
2段組レイアウト用の構造化コンテンツ
imageGrid
配列（2〜4枚推奨）
画像並列グリッド（キャプション・代替テキスト付）
</a:t>
            </a:r>
            <a:endParaRPr lang="en-US" sz="1170" dirty="0"/>
          </a:p>
        </p:txBody>
      </p:sp>
      <p:sp>
        <p:nvSpPr>
          <p:cNvPr id="3" name="Text 1"/>
          <p:cNvSpPr/>
          <p:nvPr/>
        </p:nvSpPr>
        <p:spPr>
          <a:xfrm>
            <a:off x="383857" y="4451896"/>
            <a:ext cx="8379142" cy="308521"/>
          </a:xfrm>
          <a:prstGeom prst="rect">
            <a:avLst/>
          </a:prstGeom>
          <a:noFill/>
          <a:ln/>
        </p:spPr>
        <p:txBody>
          <a:bodyPr wrap="square" rtlCol="0" anchor="t"/>
          <a:lstStyle/>
          <a:p>
            <a:pPr marL="342900" indent="-342900">
              <a:lnSpc>
                <a:spcPct val="100000"/>
              </a:lnSpc>
              <a:buSzPct val="100000"/>
              <a:buChar char="•"/>
            </a:pPr>
            <a:r>
              <a:rPr lang="en-US" sz="1620" dirty="0">
                <a:solidFill>
                  <a:srgbClr val="000000"/>
                </a:solidFill>
                <a:latin typeface="Meiryo" pitchFamily="34" charset="0"/>
                <a:ea typeface="Meiryo" pitchFamily="34" charset="-122"/>
                <a:cs typeface="Meiryo" pitchFamily="34" charset="-120"/>
              </a:rPr>
              <a:t>※ 上限値を超えるテキストはレイアウト破綻防止のためバリデーションで弾かれます</a:t>
            </a:r>
            <a:endParaRPr lang="en-US" sz="1620" dirty="0"/>
          </a:p>
          <a:p>
            <a:pPr marL="342900" indent="-342900">
              <a:lnSpc>
                <a:spcPct val="100000"/>
              </a:lnSpc>
              <a:buSzPct val="100000"/>
              <a:buChar char="•"/>
            </a:pPr>
            <a:endParaRPr lang="en-US" sz="1620" dirty="0"/>
          </a:p>
        </p:txBody>
      </p:sp>
      <p:sp>
        <p:nvSpPr>
          <p:cNvPr id="4" name="Text 2"/>
          <p:cNvSpPr/>
          <p:nvPr/>
        </p:nvSpPr>
        <p:spPr>
          <a:xfrm>
            <a:off x="190500" y="150837"/>
            <a:ext cx="8763000" cy="317450"/>
          </a:xfrm>
          <a:prstGeom prst="rect">
            <a:avLst/>
          </a:prstGeom>
          <a:noFill/>
          <a:ln/>
        </p:spPr>
        <p:txBody>
          <a:bodyPr wrap="square" rtlCol="0" anchor="t"/>
          <a:lstStyle/>
          <a:p>
            <a:pPr indent="0" marL="0">
              <a:buNone/>
            </a:pPr>
            <a:r>
              <a:rPr lang="en-US" sz="2000" b="1" dirty="0">
                <a:solidFill>
                  <a:srgbClr val="000000"/>
                </a:solidFill>
                <a:latin typeface="Meiryo" pitchFamily="34" charset="0"/>
                <a:ea typeface="Meiryo" pitchFamily="34" charset="-122"/>
                <a:cs typeface="Meiryo" pitchFamily="34" charset="-120"/>
              </a:rPr>
              <a:t>MCP各要素の受付文字数・上限規約</a:t>
            </a:r>
            <a:endParaRPr lang="en-US" sz="2000" dirty="0"/>
          </a:p>
        </p:txBody>
      </p:sp>
      <p:sp>
        <p:nvSpPr>
          <p:cNvPr id="5" name="Text 3"/>
          <p:cNvSpPr/>
          <p:nvPr/>
        </p:nvSpPr>
        <p:spPr>
          <a:xfrm>
            <a:off x="0" y="1714500"/>
            <a:ext cx="9144000" cy="297061"/>
          </a:xfrm>
          <a:prstGeom prst="rect">
            <a:avLst/>
          </a:prstGeom>
          <a:noFill/>
          <a:ln/>
        </p:spPr>
        <p:txBody>
          <a:bodyPr wrap="square" rtlCol="0" anchor="t"/>
          <a:lstStyle/>
          <a:p>
            <a:pPr algn="ctr" indent="0" marL="0">
              <a:buNone/>
            </a:pPr>
            <a:r>
              <a:rPr lang="en-US" sz="1800" b="1" dirty="0">
                <a:solidFill>
                  <a:srgbClr val="000000"/>
                </a:solidFill>
                <a:latin typeface="Meiryo" pitchFamily="34" charset="0"/>
                <a:ea typeface="Meiryo" pitchFamily="34" charset="-122"/>
                <a:cs typeface="Meiryo" pitchFamily="34" charset="-120"/>
              </a:rPr>
              <a:t>MCPツール（generate_slide_deck等）で受付可能な主要要素と上限</a:t>
            </a:r>
            <a:endParaRPr lang="en-US" sz="1800" dirty="0"/>
          </a:p>
        </p:txBody>
      </p:sp>
      <p:sp>
        <p:nvSpPr>
          <p:cNvPr id="6" name="Text 4"/>
          <p:cNvSpPr/>
          <p:nvPr/>
        </p:nvSpPr>
        <p:spPr>
          <a:xfrm>
            <a:off x="3214241" y="6172200"/>
            <a:ext cx="5739259" cy="209550"/>
          </a:xfrm>
          <a:prstGeom prst="rect">
            <a:avLst/>
          </a:prstGeom>
          <a:noFill/>
          <a:ln/>
        </p:spPr>
        <p:txBody>
          <a:bodyPr wrap="square" rtlCol="0" anchor="t"/>
          <a:lstStyle/>
          <a:p>
            <a:pPr algn="r" indent="0" marL="0">
              <a:buNone/>
            </a:pPr>
            <a:r>
              <a:rPr lang="en-US" sz="1100" dirty="0">
                <a:solidFill>
                  <a:srgbClr val="000000"/>
                </a:solidFill>
                <a:latin typeface="Meiryo" pitchFamily="34" charset="0"/>
                <a:ea typeface="Meiryo" pitchFamily="34" charset="-122"/>
                <a:cs typeface="Meiryo" pitchFamily="34" charset="-120"/>
              </a:rPr>
              <a:t>図表出典：MCPスキーマ仕様書（src/index.ts）</a:t>
            </a:r>
            <a:endParaRPr lang="en-US" sz="1100" dirty="0"/>
          </a:p>
        </p:txBody>
      </p:sp>
      <p:sp>
        <p:nvSpPr>
          <p:cNvPr id="7" name="Text 5"/>
          <p:cNvSpPr/>
          <p:nvPr/>
        </p:nvSpPr>
        <p:spPr>
          <a:xfrm>
            <a:off x="190500" y="6572250"/>
            <a:ext cx="3680966" cy="171450"/>
          </a:xfrm>
          <a:prstGeom prst="rect">
            <a:avLst/>
          </a:prstGeom>
          <a:noFill/>
          <a:ln/>
        </p:spPr>
        <p:txBody>
          <a:bodyPr wrap="square" rtlCol="0" anchor="t"/>
          <a:lstStyle/>
          <a:p>
            <a:pPr algn="l" indent="0" marL="0">
              <a:buNone/>
            </a:pPr>
            <a:r>
              <a:rPr lang="en-US" sz="1100" dirty="0">
                <a:solidFill>
                  <a:srgbClr val="FFFFFF"/>
                </a:solidFill>
                <a:latin typeface="Meiryo" pitchFamily="34" charset="0"/>
                <a:ea typeface="Meiryo" pitchFamily="34" charset="-122"/>
                <a:cs typeface="Meiryo" pitchFamily="34" charset="-120"/>
              </a:rPr>
              <a:t>© 2026 N-Y-Public</a:t>
            </a:r>
            <a:endParaRPr lang="en-US" sz="1100" dirty="0"/>
          </a:p>
        </p:txBody>
      </p:sp>
      <p:sp>
        <p:nvSpPr>
          <p:cNvPr id="8" name="Text 6"/>
          <p:cNvSpPr/>
          <p:nvPr/>
        </p:nvSpPr>
        <p:spPr>
          <a:xfrm>
            <a:off x="4386858" y="6510337"/>
            <a:ext cx="4090392" cy="271463"/>
          </a:xfrm>
          <a:prstGeom prst="rect">
            <a:avLst/>
          </a:prstGeom>
          <a:noFill/>
          <a:ln/>
        </p:spPr>
        <p:txBody>
          <a:bodyPr wrap="square" rtlCol="0" anchor="t"/>
          <a:lstStyle/>
          <a:p>
            <a:pPr algn="r" indent="0" marL="0">
              <a:buNone/>
            </a:pPr>
            <a:r>
              <a:rPr lang="en-US" sz="1100" b="1" dirty="0">
                <a:solidFill>
                  <a:srgbClr val="FF0000"/>
                </a:solidFill>
                <a:latin typeface="Meiryo" pitchFamily="34" charset="0"/>
                <a:ea typeface="Meiryo" pitchFamily="34" charset="-122"/>
                <a:cs typeface="Meiryo" pitchFamily="34" charset="-120"/>
              </a:rPr>
              <a:t>CONFIDENTIAL</a:t>
            </a:r>
            <a:endParaRPr lang="en-US" sz="1100" dirty="0"/>
          </a:p>
        </p:txBody>
      </p:sp>
      <p:sp>
        <p:nvSpPr>
          <p:cNvPr id="9" name="Text 7"/>
          <p:cNvSpPr/>
          <p:nvPr/>
        </p:nvSpPr>
        <p:spPr>
          <a:xfrm>
            <a:off x="0" y="666750"/>
            <a:ext cx="9144000" cy="952500"/>
          </a:xfrm>
          <a:prstGeom prst="rect">
            <a:avLst/>
          </a:prstGeom>
          <a:noFill/>
          <a:ln/>
        </p:spPr>
        <p:txBody>
          <a:bodyPr wrap="square" rtlCol="0" anchor="ctr"/>
          <a:lstStyle/>
          <a:p>
            <a:pPr marL="342900" indent="-342900">
              <a:lnSpc>
                <a:spcPct val="100000"/>
              </a:lnSpc>
              <a:buSzPct val="100000"/>
              <a:buChar char="•"/>
            </a:pPr>
            <a:r>
              <a:rPr lang="en-US" sz="1800" dirty="0">
                <a:solidFill>
                  <a:srgbClr val="FFFFFF"/>
                </a:solidFill>
                <a:latin typeface="Meiryo" pitchFamily="34" charset="0"/>
                <a:ea typeface="Meiryo" pitchFamily="34" charset="-122"/>
                <a:cs typeface="Meiryo" pitchFamily="34" charset="-120"/>
              </a:rPr>
              <a:t>スキーマ（Zod）により各要素の最大文字数が厳格に定義されレイアウト崩れを未然に防止</a:t>
            </a:r>
            <a:endParaRPr lang="en-US" sz="1800" dirty="0"/>
          </a:p>
          <a:p>
            <a:pPr lvl="1" marL="685800" indent="-342900">
              <a:lnSpc>
                <a:spcPct val="100000"/>
              </a:lnSpc>
              <a:buSzPct val="100000"/>
              <a:buChar char="•"/>
            </a:pPr>
            <a:r>
              <a:rPr lang="en-US" sz="1800" dirty="0">
                <a:solidFill>
                  <a:srgbClr val="FFFFFF"/>
                </a:solidFill>
                <a:latin typeface="Meiryo" pitchFamily="34" charset="0"/>
                <a:ea typeface="Meiryo" pitchFamily="34" charset="-122"/>
                <a:cs typeface="Meiryo" pitchFamily="34" charset="-120"/>
              </a:rPr>
              <a:t>上限超過時はバリデーションエラーとなり、AI による自動再試行や修正を促進</a:t>
            </a:r>
            <a:endParaRPr lang="en-US" sz="1800" dirty="0"/>
          </a:p>
        </p:txBody>
      </p:sp>
      <p:pic>
        <p:nvPicPr>
          <p:cNvPr id="10" name="Image 0" descr="/tmp/sandbox/oss/main/slides/D01-000001_Marpの使い方/N-Y-Public_Logo.jpg">    </p:cNvPr>
          <p:cNvPicPr>
            <a:picLocks noChangeAspect="1"/>
          </p:cNvPicPr>
          <p:nvPr/>
        </p:nvPicPr>
        <p:blipFill>
          <a:blip r:embed="rId1"/>
          <a:stretch>
            <a:fillRect/>
          </a:stretch>
        </p:blipFill>
        <p:spPr>
          <a:xfrm>
            <a:off x="7048500" y="47625"/>
            <a:ext cx="1905000" cy="476250"/>
          </a:xfrm>
          <a:prstGeom prst="rect">
            <a:avLst/>
          </a:prstGeom>
        </p:spPr>
      </p:pic>
      <p:sp>
        <p:nvSpPr>
          <p:cNvPr id="25" name="Slide Number Placeholder 0"/>
          <p:cNvSpPr>
            <a:spLocks noGrp="1"/>
          </p:cNvSpPr>
          <p:nvPr>
            <p:ph type="sldNum" sz="quarter" idx="4294967295"/>
          </p:nvPr>
        </p:nvSpPr>
        <p:spPr>
          <a:xfrm>
            <a:off x="8572500" y="6583680"/>
            <a:ext cx="800000" cy="300000"/>
          </a:xfrm>
          <a:prstGeom prst="rect">
            <a:avLst/>
          </a:prstGeom>
          <a:extLst>
            <a:ext uri="{C572A759-6A51-4108-AA02-DFA0A04FC94B}">
              <ma14:wrappingTextBoxFlag xmlns:ma14="http://schemas.microsoft.com/office/mac/drawingml/2011/main" val="0"/>
            </a:ext>
          </a:extLst>
        </p:spPr>
        <p:txBody>
          <a:bodyPr/>
          <a:lstStyle>
            <a:lvl1pPr>
              <a:defRPr sz="1200">
                <a:solidFill>
                  <a:srgbClr val="FFFFFF"/>
                </a:solidFill>
              </a:defRPr>
            </a:lvl1pPr>
          </a:lstStyle>
          <a:p>
            <a:pPr algn="r"/>
            <a:fld id="{F7021451-1387-4CA6-816F-3879F97B5CBC}" type="slidenum">
              <a:rPr b="0"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p:nvPr/>
        </p:nvSpPr>
        <p:spPr>
          <a:xfrm>
            <a:off x="381000" y="2190750"/>
            <a:ext cx="8382000" cy="1687264"/>
          </a:xfrm>
          <a:prstGeom prst="rect">
            <a:avLst/>
          </a:prstGeom>
          <a:noFill/>
          <a:ln/>
        </p:spPr>
        <p:txBody>
          <a:bodyPr wrap="square" rtlCol="0" anchor="t"/>
          <a:lstStyle/>
          <a:p>
            <a:pPr indent="0" marL="0">
              <a:buNone/>
            </a:pPr>
            <a:r>
              <a:rPr lang="en-US" sz="1170" dirty="0">
                <a:solidFill>
                  <a:srgbClr val="000000"/>
                </a:solidFill>
                <a:latin typeface="Meiryo" pitchFamily="34" charset="0"/>
                <a:ea typeface="Meiryo" pitchFamily="34" charset="-122"/>
                <a:cs typeface="Meiryo" pitchFamily="34" charset="-120"/>
              </a:rPr>
              <a:t>
項目
内容・仕様
詳細と活用メリット
配置場所
.agents/skills/marp-slides/
配布リポジトリ同梱でクローン後即座に利用可能
設計規約
MBB標準（ワンスライド・ワンメッセージ）
結論優先（Pyramid Principle）の構成を自動徹底
二重実行
MCPモード ＆ 直接Markdown
MCP利用可能時はAPI呼び出し、不可時は直接生成
リファレンス
ツール仕様・デザイン集・CSS規約
表・Mermaid・2段組等のベストプラクティスを内包
</a:t>
            </a:r>
            <a:endParaRPr lang="en-US" sz="1170" dirty="0"/>
          </a:p>
        </p:txBody>
      </p:sp>
      <p:sp>
        <p:nvSpPr>
          <p:cNvPr id="3" name="Text 1"/>
          <p:cNvSpPr/>
          <p:nvPr/>
        </p:nvSpPr>
        <p:spPr>
          <a:xfrm>
            <a:off x="383857" y="4007495"/>
            <a:ext cx="8379142" cy="617041"/>
          </a:xfrm>
          <a:prstGeom prst="rect">
            <a:avLst/>
          </a:prstGeom>
          <a:noFill/>
          <a:ln/>
        </p:spPr>
        <p:txBody>
          <a:bodyPr wrap="square" rtlCol="0" anchor="t"/>
          <a:lstStyle/>
          <a:p>
            <a:pPr marL="342900" indent="-342900">
              <a:lnSpc>
                <a:spcPct val="100000"/>
              </a:lnSpc>
              <a:buSzPct val="100000"/>
              <a:buChar char="•"/>
            </a:pPr>
            <a:r>
              <a:rPr lang="en-US" sz="1620" dirty="0">
                <a:solidFill>
                  <a:srgbClr val="000000"/>
                </a:solidFill>
                <a:latin typeface="Meiryo" pitchFamily="34" charset="0"/>
                <a:ea typeface="Meiryo" pitchFamily="34" charset="-122"/>
                <a:cs typeface="Meiryo" pitchFamily="34" charset="-120"/>
              </a:rPr>
              <a:t>※ Antigravity や Claude 等の AI が本スキルを自動参照し、高品質なスライドを自律生成します</a:t>
            </a:r>
            <a:endParaRPr lang="en-US" sz="1620" dirty="0"/>
          </a:p>
          <a:p>
            <a:pPr marL="342900" indent="-342900">
              <a:lnSpc>
                <a:spcPct val="100000"/>
              </a:lnSpc>
              <a:buSzPct val="100000"/>
              <a:buChar char="•"/>
            </a:pPr>
            <a:endParaRPr lang="en-US" sz="1620" dirty="0"/>
          </a:p>
        </p:txBody>
      </p:sp>
      <p:sp>
        <p:nvSpPr>
          <p:cNvPr id="4" name="Text 2"/>
          <p:cNvSpPr/>
          <p:nvPr/>
        </p:nvSpPr>
        <p:spPr>
          <a:xfrm>
            <a:off x="190500" y="150837"/>
            <a:ext cx="8763000" cy="317450"/>
          </a:xfrm>
          <a:prstGeom prst="rect">
            <a:avLst/>
          </a:prstGeom>
          <a:noFill/>
          <a:ln/>
        </p:spPr>
        <p:txBody>
          <a:bodyPr wrap="square" rtlCol="0" anchor="t"/>
          <a:lstStyle/>
          <a:p>
            <a:pPr indent="0" marL="0">
              <a:buNone/>
            </a:pPr>
            <a:r>
              <a:rPr lang="en-US" sz="2000" b="1" dirty="0">
                <a:solidFill>
                  <a:srgbClr val="000000"/>
                </a:solidFill>
                <a:latin typeface="Meiryo" pitchFamily="34" charset="0"/>
                <a:ea typeface="Meiryo" pitchFamily="34" charset="-122"/>
                <a:cs typeface="Meiryo" pitchFamily="34" charset="-120"/>
              </a:rPr>
              <a:t>自律開発用 Marp スキル（.agents/skills）の活用</a:t>
            </a:r>
            <a:endParaRPr lang="en-US" sz="2000" dirty="0"/>
          </a:p>
        </p:txBody>
      </p:sp>
      <p:sp>
        <p:nvSpPr>
          <p:cNvPr id="5" name="Text 3"/>
          <p:cNvSpPr/>
          <p:nvPr/>
        </p:nvSpPr>
        <p:spPr>
          <a:xfrm>
            <a:off x="0" y="1714500"/>
            <a:ext cx="9144000" cy="297061"/>
          </a:xfrm>
          <a:prstGeom prst="rect">
            <a:avLst/>
          </a:prstGeom>
          <a:noFill/>
          <a:ln/>
        </p:spPr>
        <p:txBody>
          <a:bodyPr wrap="square" rtlCol="0" anchor="t"/>
          <a:lstStyle/>
          <a:p>
            <a:pPr algn="ctr" indent="0" marL="0">
              <a:buNone/>
            </a:pPr>
            <a:r>
              <a:rPr lang="en-US" sz="1800" b="1" dirty="0">
                <a:solidFill>
                  <a:srgbClr val="000000"/>
                </a:solidFill>
                <a:latin typeface="Meiryo" pitchFamily="34" charset="0"/>
                <a:ea typeface="Meiryo" pitchFamily="34" charset="-122"/>
                <a:cs typeface="Meiryo" pitchFamily="34" charset="-120"/>
              </a:rPr>
              <a:t>Marp スライド生成スキル（marp-slides）の構成と役割</a:t>
            </a:r>
            <a:endParaRPr lang="en-US" sz="1800" dirty="0"/>
          </a:p>
        </p:txBody>
      </p:sp>
      <p:sp>
        <p:nvSpPr>
          <p:cNvPr id="6" name="Text 4"/>
          <p:cNvSpPr/>
          <p:nvPr/>
        </p:nvSpPr>
        <p:spPr>
          <a:xfrm>
            <a:off x="3079700" y="6172200"/>
            <a:ext cx="5873800" cy="209550"/>
          </a:xfrm>
          <a:prstGeom prst="rect">
            <a:avLst/>
          </a:prstGeom>
          <a:noFill/>
          <a:ln/>
        </p:spPr>
        <p:txBody>
          <a:bodyPr wrap="square" rtlCol="0" anchor="t"/>
          <a:lstStyle/>
          <a:p>
            <a:pPr algn="r" indent="0" marL="0">
              <a:buNone/>
            </a:pPr>
            <a:r>
              <a:rPr lang="en-US" sz="1100" dirty="0">
                <a:solidFill>
                  <a:srgbClr val="000000"/>
                </a:solidFill>
                <a:latin typeface="Meiryo" pitchFamily="34" charset="0"/>
                <a:ea typeface="Meiryo" pitchFamily="34" charset="-122"/>
                <a:cs typeface="Meiryo" pitchFamily="34" charset="-120"/>
              </a:rPr>
              <a:t>図表出典：エージェントスキル仕様（SKILL.md）</a:t>
            </a:r>
            <a:endParaRPr lang="en-US" sz="1100" dirty="0"/>
          </a:p>
        </p:txBody>
      </p:sp>
      <p:sp>
        <p:nvSpPr>
          <p:cNvPr id="7" name="Text 5"/>
          <p:cNvSpPr/>
          <p:nvPr/>
        </p:nvSpPr>
        <p:spPr>
          <a:xfrm>
            <a:off x="190500" y="6572250"/>
            <a:ext cx="3680966" cy="171450"/>
          </a:xfrm>
          <a:prstGeom prst="rect">
            <a:avLst/>
          </a:prstGeom>
          <a:noFill/>
          <a:ln/>
        </p:spPr>
        <p:txBody>
          <a:bodyPr wrap="square" rtlCol="0" anchor="t"/>
          <a:lstStyle/>
          <a:p>
            <a:pPr algn="l" indent="0" marL="0">
              <a:buNone/>
            </a:pPr>
            <a:r>
              <a:rPr lang="en-US" sz="1100" dirty="0">
                <a:solidFill>
                  <a:srgbClr val="FFFFFF"/>
                </a:solidFill>
                <a:latin typeface="Meiryo" pitchFamily="34" charset="0"/>
                <a:ea typeface="Meiryo" pitchFamily="34" charset="-122"/>
                <a:cs typeface="Meiryo" pitchFamily="34" charset="-120"/>
              </a:rPr>
              <a:t>© 2026 N-Y-Public</a:t>
            </a:r>
            <a:endParaRPr lang="en-US" sz="1100" dirty="0"/>
          </a:p>
        </p:txBody>
      </p:sp>
      <p:sp>
        <p:nvSpPr>
          <p:cNvPr id="8" name="Text 6"/>
          <p:cNvSpPr/>
          <p:nvPr/>
        </p:nvSpPr>
        <p:spPr>
          <a:xfrm>
            <a:off x="4386858" y="6510337"/>
            <a:ext cx="4090392" cy="271463"/>
          </a:xfrm>
          <a:prstGeom prst="rect">
            <a:avLst/>
          </a:prstGeom>
          <a:noFill/>
          <a:ln/>
        </p:spPr>
        <p:txBody>
          <a:bodyPr wrap="square" rtlCol="0" anchor="t"/>
          <a:lstStyle/>
          <a:p>
            <a:pPr algn="r" indent="0" marL="0">
              <a:buNone/>
            </a:pPr>
            <a:r>
              <a:rPr lang="en-US" sz="1100" b="1" dirty="0">
                <a:solidFill>
                  <a:srgbClr val="FF0000"/>
                </a:solidFill>
                <a:latin typeface="Meiryo" pitchFamily="34" charset="0"/>
                <a:ea typeface="Meiryo" pitchFamily="34" charset="-122"/>
                <a:cs typeface="Meiryo" pitchFamily="34" charset="-120"/>
              </a:rPr>
              <a:t>CONFIDENTIAL</a:t>
            </a:r>
            <a:endParaRPr lang="en-US" sz="1100" dirty="0"/>
          </a:p>
        </p:txBody>
      </p:sp>
      <p:sp>
        <p:nvSpPr>
          <p:cNvPr id="9" name="Text 7"/>
          <p:cNvSpPr/>
          <p:nvPr/>
        </p:nvSpPr>
        <p:spPr>
          <a:xfrm>
            <a:off x="0" y="666750"/>
            <a:ext cx="9144000" cy="952500"/>
          </a:xfrm>
          <a:prstGeom prst="rect">
            <a:avLst/>
          </a:prstGeom>
          <a:noFill/>
          <a:ln/>
        </p:spPr>
        <p:txBody>
          <a:bodyPr wrap="square" rtlCol="0" anchor="ctr"/>
          <a:lstStyle/>
          <a:p>
            <a:pPr marL="342900" indent="-342900">
              <a:lnSpc>
                <a:spcPct val="100000"/>
              </a:lnSpc>
              <a:buSzPct val="100000"/>
              <a:buChar char="•"/>
            </a:pPr>
            <a:r>
              <a:rPr lang="en-US" sz="1800" dirty="0">
                <a:solidFill>
                  <a:srgbClr val="FFFFFF"/>
                </a:solidFill>
                <a:latin typeface="Meiryo" pitchFamily="34" charset="0"/>
                <a:ea typeface="Meiryo" pitchFamily="34" charset="-122"/>
                <a:cs typeface="Meiryo" pitchFamily="34" charset="-120"/>
              </a:rPr>
              <a:t>AI エージェントが自律的にスライド設計・編集・出力を行う専用スキルを同梱</a:t>
            </a:r>
            <a:endParaRPr lang="en-US" sz="1800" dirty="0"/>
          </a:p>
          <a:p>
            <a:pPr lvl="1" marL="685800" indent="-342900">
              <a:lnSpc>
                <a:spcPct val="100000"/>
              </a:lnSpc>
              <a:buSzPct val="100000"/>
              <a:buChar char="•"/>
            </a:pPr>
            <a:r>
              <a:rPr lang="en-US" sz="1800" dirty="0">
                <a:solidFill>
                  <a:srgbClr val="FFFFFF"/>
                </a:solidFill>
                <a:latin typeface="Meiryo" pitchFamily="34" charset="0"/>
                <a:ea typeface="Meiryo" pitchFamily="34" charset="-122"/>
                <a:cs typeface="Meiryo" pitchFamily="34" charset="-120"/>
              </a:rPr>
              <a:t>ユーザーが「スライドを作成して」と指示するだけで、規約に沿った資料を自動構築</a:t>
            </a:r>
            <a:endParaRPr lang="en-US" sz="1800" dirty="0"/>
          </a:p>
        </p:txBody>
      </p:sp>
      <p:pic>
        <p:nvPicPr>
          <p:cNvPr id="10" name="Image 0" descr="/tmp/sandbox/oss/main/slides/D01-000001_Marpの使い方/N-Y-Public_Logo.jpg">    </p:cNvPr>
          <p:cNvPicPr>
            <a:picLocks noChangeAspect="1"/>
          </p:cNvPicPr>
          <p:nvPr/>
        </p:nvPicPr>
        <p:blipFill>
          <a:blip r:embed="rId1"/>
          <a:stretch>
            <a:fillRect/>
          </a:stretch>
        </p:blipFill>
        <p:spPr>
          <a:xfrm>
            <a:off x="7048500" y="47625"/>
            <a:ext cx="1905000" cy="476250"/>
          </a:xfrm>
          <a:prstGeom prst="rect">
            <a:avLst/>
          </a:prstGeom>
        </p:spPr>
      </p:pic>
      <p:sp>
        <p:nvSpPr>
          <p:cNvPr id="25" name="Slide Number Placeholder 0"/>
          <p:cNvSpPr>
            <a:spLocks noGrp="1"/>
          </p:cNvSpPr>
          <p:nvPr>
            <p:ph type="sldNum" sz="quarter" idx="4294967295"/>
          </p:nvPr>
        </p:nvSpPr>
        <p:spPr>
          <a:xfrm>
            <a:off x="8572500" y="6583680"/>
            <a:ext cx="800000" cy="300000"/>
          </a:xfrm>
          <a:prstGeom prst="rect">
            <a:avLst/>
          </a:prstGeom>
          <a:extLst>
            <a:ext uri="{C572A759-6A51-4108-AA02-DFA0A04FC94B}">
              <ma14:wrappingTextBoxFlag xmlns:ma14="http://schemas.microsoft.com/office/mac/drawingml/2011/main" val="0"/>
            </a:ext>
          </a:extLst>
        </p:spPr>
        <p:txBody>
          <a:bodyPr/>
          <a:lstStyle>
            <a:lvl1pPr>
              <a:defRPr sz="1200">
                <a:solidFill>
                  <a:srgbClr val="FFFFFF"/>
                </a:solidFill>
              </a:defRPr>
            </a:lvl1pPr>
          </a:lstStyle>
          <a:p>
            <a:pPr algn="r"/>
            <a:fld id="{F7021451-1387-4CA6-816F-3879F97B5CBC}" type="slidenum">
              <a:rPr b="0"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p:nvPr/>
        </p:nvSpPr>
        <p:spPr>
          <a:xfrm>
            <a:off x="381000" y="2190750"/>
            <a:ext cx="8382000" cy="1677739"/>
          </a:xfrm>
          <a:prstGeom prst="rect">
            <a:avLst/>
          </a:prstGeom>
          <a:noFill/>
          <a:ln/>
        </p:spPr>
        <p:txBody>
          <a:bodyPr wrap="square" rtlCol="0" anchor="t"/>
          <a:lstStyle/>
          <a:p>
            <a:pPr indent="0" marL="0">
              <a:buNone/>
            </a:pPr>
            <a:r>
              <a:rPr lang="en-US" sz="1170" dirty="0">
                <a:solidFill>
                  <a:srgbClr val="000000"/>
                </a:solidFill>
                <a:latin typeface="Meiryo" pitchFamily="34" charset="0"/>
                <a:ea typeface="Meiryo" pitchFamily="34" charset="-122"/>
                <a:cs typeface="Meiryo" pitchFamily="34" charset="-120"/>
              </a:rPr>
              <a:t>
区分
許諾・制限の具体的内容
適用例・備考
商用・社内利用
無制限に許可
自社業務、営業提案、顧客向け納品スライドの作成
保守・役務提供
有償提供可能
SI構築、導入支援、技術相談、保守契約の対価受領
改変・再配布
条件付き許可
同一ライセンス・著作権表示を保持したコード改変・配布
SaaS / クラウド
事前の書面許可なく禁止
本機能を有償Webサービスや有料MCP等として提供すること
</a:t>
            </a:r>
            <a:endParaRPr lang="en-US" sz="1170" dirty="0"/>
          </a:p>
        </p:txBody>
      </p:sp>
      <p:sp>
        <p:nvSpPr>
          <p:cNvPr id="3" name="Text 1"/>
          <p:cNvSpPr/>
          <p:nvPr/>
        </p:nvSpPr>
        <p:spPr>
          <a:xfrm>
            <a:off x="383857" y="3997970"/>
            <a:ext cx="8379142" cy="1234083"/>
          </a:xfrm>
          <a:prstGeom prst="rect">
            <a:avLst/>
          </a:prstGeom>
          <a:noFill/>
          <a:ln/>
        </p:spPr>
        <p:txBody>
          <a:bodyPr wrap="square" rtlCol="0" anchor="t"/>
          <a:lstStyle/>
          <a:p>
            <a:pPr marL="342900" indent="-342900">
              <a:lnSpc>
                <a:spcPct val="100000"/>
              </a:lnSpc>
              <a:buSzPct val="100000"/>
              <a:buChar char="•"/>
            </a:pPr>
            <a:r>
              <a:rPr lang="en-US" sz="1620" dirty="0">
                <a:solidFill>
                  <a:srgbClr val="000000"/>
                </a:solidFill>
                <a:latin typeface="Meiryo" pitchFamily="34" charset="0"/>
                <a:ea typeface="Meiryo" pitchFamily="34" charset="-122"/>
                <a:cs typeface="Meiryo" pitchFamily="34" charset="-120"/>
              </a:rPr>
              <a:t>※ 著作権表示および許諾表示をすべての複製物・派生ソフトウェアに保持する必要があります</a:t>
            </a:r>
            <a:endParaRPr lang="en-US" sz="1620" dirty="0"/>
          </a:p>
          <a:p>
            <a:pPr marL="342900" indent="-342900">
              <a:lnSpc>
                <a:spcPct val="100000"/>
              </a:lnSpc>
              <a:buSzPct val="100000"/>
              <a:buChar char="•"/>
            </a:pPr>
            <a:r>
              <a:rPr lang="en-US" sz="1620" dirty="0">
                <a:solidFill>
                  <a:srgbClr val="000000"/>
                </a:solidFill>
                <a:latin typeface="Meiryo" pitchFamily="34" charset="0"/>
                <a:ea typeface="Meiryo" pitchFamily="34" charset="-122"/>
                <a:cs typeface="Meiryo" pitchFamily="34" charset="-120"/>
              </a:rPr>
              <a:t>※ SaaS 形態でのサービス提供を希望する場合は、著作権者への事前の書面許諾が必要です</a:t>
            </a:r>
            <a:endParaRPr lang="en-US" sz="1620" dirty="0"/>
          </a:p>
          <a:p>
            <a:pPr marL="342900" indent="-342900">
              <a:lnSpc>
                <a:spcPct val="100000"/>
              </a:lnSpc>
              <a:buSzPct val="100000"/>
              <a:buChar char="•"/>
            </a:pPr>
            <a:endParaRPr lang="en-US" sz="1620" dirty="0"/>
          </a:p>
        </p:txBody>
      </p:sp>
      <p:sp>
        <p:nvSpPr>
          <p:cNvPr id="4" name="Text 2"/>
          <p:cNvSpPr/>
          <p:nvPr/>
        </p:nvSpPr>
        <p:spPr>
          <a:xfrm>
            <a:off x="190500" y="150837"/>
            <a:ext cx="8763000" cy="317450"/>
          </a:xfrm>
          <a:prstGeom prst="rect">
            <a:avLst/>
          </a:prstGeom>
          <a:noFill/>
          <a:ln/>
        </p:spPr>
        <p:txBody>
          <a:bodyPr wrap="square" rtlCol="0" anchor="t"/>
          <a:lstStyle/>
          <a:p>
            <a:pPr indent="0" marL="0">
              <a:buNone/>
            </a:pPr>
            <a:r>
              <a:rPr lang="en-US" sz="2000" b="1" dirty="0">
                <a:solidFill>
                  <a:srgbClr val="000000"/>
                </a:solidFill>
                <a:latin typeface="Meiryo" pitchFamily="34" charset="0"/>
                <a:ea typeface="Meiryo" pitchFamily="34" charset="-122"/>
                <a:cs typeface="Meiryo" pitchFamily="34" charset="-120"/>
              </a:rPr>
              <a:t>ライセンス条項（SaaS制限付きソースアベイラブル）</a:t>
            </a:r>
            <a:endParaRPr lang="en-US" sz="2000" dirty="0"/>
          </a:p>
        </p:txBody>
      </p:sp>
      <p:sp>
        <p:nvSpPr>
          <p:cNvPr id="5" name="Text 3"/>
          <p:cNvSpPr/>
          <p:nvPr/>
        </p:nvSpPr>
        <p:spPr>
          <a:xfrm>
            <a:off x="0" y="1714500"/>
            <a:ext cx="9144000" cy="316111"/>
          </a:xfrm>
          <a:prstGeom prst="rect">
            <a:avLst/>
          </a:prstGeom>
          <a:noFill/>
          <a:ln/>
        </p:spPr>
        <p:txBody>
          <a:bodyPr wrap="square" rtlCol="0" anchor="t"/>
          <a:lstStyle/>
          <a:p>
            <a:pPr algn="ctr" indent="0" marL="0">
              <a:buNone/>
            </a:pPr>
            <a:r>
              <a:rPr lang="en-US" sz="1800" b="1" dirty="0">
                <a:solidFill>
                  <a:srgbClr val="000000"/>
                </a:solidFill>
                <a:latin typeface="Meiryo" pitchFamily="34" charset="0"/>
                <a:ea typeface="Meiryo" pitchFamily="34" charset="-122"/>
                <a:cs typeface="Meiryo" pitchFamily="34" charset="-120"/>
              </a:rPr>
              <a:t>oss/main/LICENSE の許諾範囲と利用条件の要約</a:t>
            </a:r>
            <a:endParaRPr lang="en-US" sz="1800" dirty="0"/>
          </a:p>
        </p:txBody>
      </p:sp>
      <p:sp>
        <p:nvSpPr>
          <p:cNvPr id="6" name="Text 4"/>
          <p:cNvSpPr/>
          <p:nvPr/>
        </p:nvSpPr>
        <p:spPr>
          <a:xfrm>
            <a:off x="1597670" y="6172200"/>
            <a:ext cx="7355830" cy="209550"/>
          </a:xfrm>
          <a:prstGeom prst="rect">
            <a:avLst/>
          </a:prstGeom>
          <a:noFill/>
          <a:ln/>
        </p:spPr>
        <p:txBody>
          <a:bodyPr wrap="square" rtlCol="0" anchor="t"/>
          <a:lstStyle/>
          <a:p>
            <a:pPr algn="r" indent="0" marL="0">
              <a:buNone/>
            </a:pPr>
            <a:r>
              <a:rPr lang="en-US" sz="1100" dirty="0">
                <a:solidFill>
                  <a:srgbClr val="000000"/>
                </a:solidFill>
                <a:latin typeface="Meiryo" pitchFamily="34" charset="0"/>
                <a:ea typeface="Meiryo" pitchFamily="34" charset="-122"/>
                <a:cs typeface="Meiryo" pitchFamily="34" charset="-120"/>
              </a:rPr>
              <a:t>図表出典：oss/main/LICENSE（Custom License with SaaS Restriction）</a:t>
            </a:r>
            <a:endParaRPr lang="en-US" sz="1100" dirty="0"/>
          </a:p>
        </p:txBody>
      </p:sp>
      <p:sp>
        <p:nvSpPr>
          <p:cNvPr id="7" name="Text 5"/>
          <p:cNvSpPr/>
          <p:nvPr/>
        </p:nvSpPr>
        <p:spPr>
          <a:xfrm>
            <a:off x="190500" y="6572250"/>
            <a:ext cx="3680966" cy="171450"/>
          </a:xfrm>
          <a:prstGeom prst="rect">
            <a:avLst/>
          </a:prstGeom>
          <a:noFill/>
          <a:ln/>
        </p:spPr>
        <p:txBody>
          <a:bodyPr wrap="square" rtlCol="0" anchor="t"/>
          <a:lstStyle/>
          <a:p>
            <a:pPr algn="l" indent="0" marL="0">
              <a:buNone/>
            </a:pPr>
            <a:r>
              <a:rPr lang="en-US" sz="1100" dirty="0">
                <a:solidFill>
                  <a:srgbClr val="FFFFFF"/>
                </a:solidFill>
                <a:latin typeface="Meiryo" pitchFamily="34" charset="0"/>
                <a:ea typeface="Meiryo" pitchFamily="34" charset="-122"/>
                <a:cs typeface="Meiryo" pitchFamily="34" charset="-120"/>
              </a:rPr>
              <a:t>© 2026 N-Y-Public</a:t>
            </a:r>
            <a:endParaRPr lang="en-US" sz="1100" dirty="0"/>
          </a:p>
        </p:txBody>
      </p:sp>
      <p:sp>
        <p:nvSpPr>
          <p:cNvPr id="8" name="Text 6"/>
          <p:cNvSpPr/>
          <p:nvPr/>
        </p:nvSpPr>
        <p:spPr>
          <a:xfrm>
            <a:off x="4386858" y="6510337"/>
            <a:ext cx="4090392" cy="271463"/>
          </a:xfrm>
          <a:prstGeom prst="rect">
            <a:avLst/>
          </a:prstGeom>
          <a:noFill/>
          <a:ln/>
        </p:spPr>
        <p:txBody>
          <a:bodyPr wrap="square" rtlCol="0" anchor="t"/>
          <a:lstStyle/>
          <a:p>
            <a:pPr algn="r" indent="0" marL="0">
              <a:buNone/>
            </a:pPr>
            <a:r>
              <a:rPr lang="en-US" sz="1100" b="1" dirty="0">
                <a:solidFill>
                  <a:srgbClr val="FF0000"/>
                </a:solidFill>
                <a:latin typeface="Meiryo" pitchFamily="34" charset="0"/>
                <a:ea typeface="Meiryo" pitchFamily="34" charset="-122"/>
                <a:cs typeface="Meiryo" pitchFamily="34" charset="-120"/>
              </a:rPr>
              <a:t>CONFIDENTIAL</a:t>
            </a:r>
            <a:endParaRPr lang="en-US" sz="1100" dirty="0"/>
          </a:p>
        </p:txBody>
      </p:sp>
      <p:sp>
        <p:nvSpPr>
          <p:cNvPr id="9" name="Text 7"/>
          <p:cNvSpPr/>
          <p:nvPr/>
        </p:nvSpPr>
        <p:spPr>
          <a:xfrm>
            <a:off x="0" y="666750"/>
            <a:ext cx="9144000" cy="952500"/>
          </a:xfrm>
          <a:prstGeom prst="rect">
            <a:avLst/>
          </a:prstGeom>
          <a:noFill/>
          <a:ln/>
        </p:spPr>
        <p:txBody>
          <a:bodyPr wrap="square" rtlCol="0" anchor="ctr"/>
          <a:lstStyle/>
          <a:p>
            <a:pPr marL="342900" indent="-342900">
              <a:lnSpc>
                <a:spcPct val="100000"/>
              </a:lnSpc>
              <a:buSzPct val="100000"/>
              <a:buChar char="•"/>
            </a:pPr>
            <a:r>
              <a:rPr lang="en-US" sz="1800" dirty="0">
                <a:solidFill>
                  <a:srgbClr val="FFFFFF"/>
                </a:solidFill>
                <a:latin typeface="Meiryo" pitchFamily="34" charset="0"/>
                <a:ea typeface="Meiryo" pitchFamily="34" charset="-122"/>
                <a:cs typeface="Meiryo" pitchFamily="34" charset="-120"/>
              </a:rPr>
              <a:t>社内資料作成や受託・保守・コンサルティング等の有償役務には自由に利用可能</a:t>
            </a:r>
            <a:endParaRPr lang="en-US" sz="1800" dirty="0"/>
          </a:p>
          <a:p>
            <a:pPr lvl="1" marL="685800" indent="-342900">
              <a:lnSpc>
                <a:spcPct val="100000"/>
              </a:lnSpc>
              <a:buSzPct val="100000"/>
              <a:buChar char="•"/>
            </a:pPr>
            <a:r>
              <a:rPr lang="en-US" sz="1800" dirty="0">
                <a:solidFill>
                  <a:srgbClr val="FFFFFF"/>
                </a:solidFill>
                <a:latin typeface="Meiryo" pitchFamily="34" charset="0"/>
                <a:ea typeface="Meiryo" pitchFamily="34" charset="-122"/>
                <a:cs typeface="Meiryo" pitchFamily="34" charset="-120"/>
              </a:rPr>
              <a:t>ただし、第三者向け有償SaaS／クラウドサービス／有料APIとしての提供は禁止</a:t>
            </a:r>
            <a:endParaRPr lang="en-US" sz="1800" dirty="0"/>
          </a:p>
        </p:txBody>
      </p:sp>
      <p:pic>
        <p:nvPicPr>
          <p:cNvPr id="10" name="Image 0" descr="/tmp/sandbox/oss/main/slides/D01-000001_Marpの使い方/N-Y-Public_Logo.jpg">    </p:cNvPr>
          <p:cNvPicPr>
            <a:picLocks noChangeAspect="1"/>
          </p:cNvPicPr>
          <p:nvPr/>
        </p:nvPicPr>
        <p:blipFill>
          <a:blip r:embed="rId1"/>
          <a:stretch>
            <a:fillRect/>
          </a:stretch>
        </p:blipFill>
        <p:spPr>
          <a:xfrm>
            <a:off x="7048500" y="47625"/>
            <a:ext cx="1905000" cy="476250"/>
          </a:xfrm>
          <a:prstGeom prst="rect">
            <a:avLst/>
          </a:prstGeom>
        </p:spPr>
      </p:pic>
      <p:sp>
        <p:nvSpPr>
          <p:cNvPr id="25" name="Slide Number Placeholder 0"/>
          <p:cNvSpPr>
            <a:spLocks noGrp="1"/>
          </p:cNvSpPr>
          <p:nvPr>
            <p:ph type="sldNum" sz="quarter" idx="4294967295"/>
          </p:nvPr>
        </p:nvSpPr>
        <p:spPr>
          <a:xfrm>
            <a:off x="8572500" y="6583680"/>
            <a:ext cx="800000" cy="300000"/>
          </a:xfrm>
          <a:prstGeom prst="rect">
            <a:avLst/>
          </a:prstGeom>
          <a:extLst>
            <a:ext uri="{C572A759-6A51-4108-AA02-DFA0A04FC94B}">
              <ma14:wrappingTextBoxFlag xmlns:ma14="http://schemas.microsoft.com/office/mac/drawingml/2011/main" val="0"/>
            </a:ext>
          </a:extLst>
        </p:spPr>
        <p:txBody>
          <a:bodyPr/>
          <a:lstStyle>
            <a:lvl1pPr>
              <a:defRPr sz="1200">
                <a:solidFill>
                  <a:srgbClr val="FFFFFF"/>
                </a:solidFill>
              </a:defRPr>
            </a:lvl1pPr>
          </a:lstStyle>
          <a:p>
            <a:pPr algn="r"/>
            <a:fld id="{F7021451-1387-4CA6-816F-3879F97B5CBC}" type="slidenum">
              <a:rPr b="0" lang="en-US"/>
              <a:t>13</a:t>
            </a:fld>
            <a:endParaRPr lang="en-US"/>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13</Slides>
  <Notes>13</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13</vt:i4>
      </vt:variant>
    </vt:vector>
  </HeadingPairs>
  <TitlesOfParts>
    <vt:vector size="16"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PptxGenJS</cp:lastModifiedBy>
  <cp:revision>1</cp:revision>
  <dcterms:created xsi:type="dcterms:W3CDTF">2026-10-04T16:25:40Z</dcterms:created>
  <dcterms:modified xsi:type="dcterms:W3CDTF">2026-10-04T16:25:40Z</dcterms:modified>
</cp:coreProperties>
</file>